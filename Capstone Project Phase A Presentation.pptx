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73" r:id="rId3"/>
    <p:sldId id="258" r:id="rId4"/>
    <p:sldId id="259" r:id="rId5"/>
    <p:sldId id="260" r:id="rId6"/>
    <p:sldId id="262" r:id="rId7"/>
    <p:sldId id="261"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4407"/>
    <p:restoredTop sz="94755"/>
  </p:normalViewPr>
  <p:slideViewPr>
    <p:cSldViewPr snapToGrid="0">
      <p:cViewPr>
        <p:scale>
          <a:sx n="133" d="100"/>
          <a:sy n="133" d="100"/>
        </p:scale>
        <p:origin x="2224" y="4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028E201-08E1-4A41-983E-96E44D433619}" type="datetimeFigureOut">
              <a:rPr lang="en-IL" smtClean="0"/>
              <a:t>08/01/2026</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2943D8-02D4-1D48-8D3F-B8E43D731D5B}" type="slidenum">
              <a:rPr lang="en-IL" smtClean="0"/>
              <a:t>‹#›</a:t>
            </a:fld>
            <a:endParaRPr lang="en-IL"/>
          </a:p>
        </p:txBody>
      </p:sp>
    </p:spTree>
    <p:extLst>
      <p:ext uri="{BB962C8B-B14F-4D97-AF65-F5344CB8AC3E}">
        <p14:creationId xmlns:p14="http://schemas.microsoft.com/office/powerpoint/2010/main" val="30895257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C42943D8-02D4-1D48-8D3F-B8E43D731D5B}" type="slidenum">
              <a:rPr lang="en-IL" smtClean="0"/>
              <a:t>6</a:t>
            </a:fld>
            <a:endParaRPr lang="en-IL"/>
          </a:p>
        </p:txBody>
      </p:sp>
    </p:spTree>
    <p:extLst>
      <p:ext uri="{BB962C8B-B14F-4D97-AF65-F5344CB8AC3E}">
        <p14:creationId xmlns:p14="http://schemas.microsoft.com/office/powerpoint/2010/main" val="25751625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C42943D8-02D4-1D48-8D3F-B8E43D731D5B}" type="slidenum">
              <a:rPr lang="en-IL" smtClean="0"/>
              <a:t>16</a:t>
            </a:fld>
            <a:endParaRPr lang="en-IL"/>
          </a:p>
        </p:txBody>
      </p:sp>
    </p:spTree>
    <p:extLst>
      <p:ext uri="{BB962C8B-B14F-4D97-AF65-F5344CB8AC3E}">
        <p14:creationId xmlns:p14="http://schemas.microsoft.com/office/powerpoint/2010/main" val="18665184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316A2-DAD8-7DAF-AA53-66594756CF6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L"/>
          </a:p>
        </p:txBody>
      </p:sp>
      <p:sp>
        <p:nvSpPr>
          <p:cNvPr id="3" name="Subtitle 2">
            <a:extLst>
              <a:ext uri="{FF2B5EF4-FFF2-40B4-BE49-F238E27FC236}">
                <a16:creationId xmlns:a16="http://schemas.microsoft.com/office/drawing/2014/main" id="{84744817-4EF0-46D0-93E1-10F4624F1CA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L"/>
          </a:p>
        </p:txBody>
      </p:sp>
      <p:sp>
        <p:nvSpPr>
          <p:cNvPr id="4" name="Date Placeholder 3">
            <a:extLst>
              <a:ext uri="{FF2B5EF4-FFF2-40B4-BE49-F238E27FC236}">
                <a16:creationId xmlns:a16="http://schemas.microsoft.com/office/drawing/2014/main" id="{84650928-6197-A2EE-D99A-FA98B52F1B4B}"/>
              </a:ext>
            </a:extLst>
          </p:cNvPr>
          <p:cNvSpPr>
            <a:spLocks noGrp="1"/>
          </p:cNvSpPr>
          <p:nvPr>
            <p:ph type="dt" sz="half" idx="10"/>
          </p:nvPr>
        </p:nvSpPr>
        <p:spPr/>
        <p:txBody>
          <a:bodyPr/>
          <a:lstStyle/>
          <a:p>
            <a:fld id="{C4F80FB4-18D2-8645-894B-9E7CE4448567}" type="datetimeFigureOut">
              <a:rPr lang="en-IL" smtClean="0"/>
              <a:t>08/01/2026</a:t>
            </a:fld>
            <a:endParaRPr lang="en-IL"/>
          </a:p>
        </p:txBody>
      </p:sp>
      <p:sp>
        <p:nvSpPr>
          <p:cNvPr id="5" name="Footer Placeholder 4">
            <a:extLst>
              <a:ext uri="{FF2B5EF4-FFF2-40B4-BE49-F238E27FC236}">
                <a16:creationId xmlns:a16="http://schemas.microsoft.com/office/drawing/2014/main" id="{5FB285F2-47D7-2157-7530-545CFCF5F181}"/>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41B05C9E-50CF-861E-448F-F890A843DE9B}"/>
              </a:ext>
            </a:extLst>
          </p:cNvPr>
          <p:cNvSpPr>
            <a:spLocks noGrp="1"/>
          </p:cNvSpPr>
          <p:nvPr>
            <p:ph type="sldNum" sz="quarter" idx="12"/>
          </p:nvPr>
        </p:nvSpPr>
        <p:spPr/>
        <p:txBody>
          <a:bodyPr/>
          <a:lstStyle/>
          <a:p>
            <a:fld id="{FC3AC6C6-D394-284F-8509-3E976CFDF464}" type="slidenum">
              <a:rPr lang="en-IL" smtClean="0"/>
              <a:t>‹#›</a:t>
            </a:fld>
            <a:endParaRPr lang="en-IL"/>
          </a:p>
        </p:txBody>
      </p:sp>
    </p:spTree>
    <p:extLst>
      <p:ext uri="{BB962C8B-B14F-4D97-AF65-F5344CB8AC3E}">
        <p14:creationId xmlns:p14="http://schemas.microsoft.com/office/powerpoint/2010/main" val="34394746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26119C-679D-8E91-F714-D4DA6AF57977}"/>
              </a:ext>
            </a:extLst>
          </p:cNvPr>
          <p:cNvSpPr>
            <a:spLocks noGrp="1"/>
          </p:cNvSpPr>
          <p:nvPr>
            <p:ph type="title"/>
          </p:nvPr>
        </p:nvSpPr>
        <p:spPr/>
        <p:txBody>
          <a:bodyPr/>
          <a:lstStyle/>
          <a:p>
            <a:r>
              <a:rPr lang="en-US"/>
              <a:t>Click to edit Master title style</a:t>
            </a:r>
            <a:endParaRPr lang="en-IL"/>
          </a:p>
        </p:txBody>
      </p:sp>
      <p:sp>
        <p:nvSpPr>
          <p:cNvPr id="3" name="Content Placeholder 2">
            <a:extLst>
              <a:ext uri="{FF2B5EF4-FFF2-40B4-BE49-F238E27FC236}">
                <a16:creationId xmlns:a16="http://schemas.microsoft.com/office/drawing/2014/main" id="{25DDD1F0-234C-7F94-D18B-35448486C52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0A15B473-0A8B-7A1F-947B-0F8747EAEB2F}"/>
              </a:ext>
            </a:extLst>
          </p:cNvPr>
          <p:cNvSpPr>
            <a:spLocks noGrp="1"/>
          </p:cNvSpPr>
          <p:nvPr>
            <p:ph type="dt" sz="half" idx="10"/>
          </p:nvPr>
        </p:nvSpPr>
        <p:spPr/>
        <p:txBody>
          <a:bodyPr/>
          <a:lstStyle/>
          <a:p>
            <a:fld id="{C4F80FB4-18D2-8645-894B-9E7CE4448567}" type="datetimeFigureOut">
              <a:rPr lang="en-IL" smtClean="0"/>
              <a:t>08/01/2026</a:t>
            </a:fld>
            <a:endParaRPr lang="en-IL"/>
          </a:p>
        </p:txBody>
      </p:sp>
      <p:sp>
        <p:nvSpPr>
          <p:cNvPr id="5" name="Footer Placeholder 4">
            <a:extLst>
              <a:ext uri="{FF2B5EF4-FFF2-40B4-BE49-F238E27FC236}">
                <a16:creationId xmlns:a16="http://schemas.microsoft.com/office/drawing/2014/main" id="{9839BEFD-9735-5DF0-5E49-16F30EB08CD4}"/>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9115361E-05DE-5A39-2209-40B489333263}"/>
              </a:ext>
            </a:extLst>
          </p:cNvPr>
          <p:cNvSpPr>
            <a:spLocks noGrp="1"/>
          </p:cNvSpPr>
          <p:nvPr>
            <p:ph type="sldNum" sz="quarter" idx="12"/>
          </p:nvPr>
        </p:nvSpPr>
        <p:spPr/>
        <p:txBody>
          <a:bodyPr/>
          <a:lstStyle/>
          <a:p>
            <a:fld id="{FC3AC6C6-D394-284F-8509-3E976CFDF464}" type="slidenum">
              <a:rPr lang="en-IL" smtClean="0"/>
              <a:t>‹#›</a:t>
            </a:fld>
            <a:endParaRPr lang="en-IL"/>
          </a:p>
        </p:txBody>
      </p:sp>
    </p:spTree>
    <p:extLst>
      <p:ext uri="{BB962C8B-B14F-4D97-AF65-F5344CB8AC3E}">
        <p14:creationId xmlns:p14="http://schemas.microsoft.com/office/powerpoint/2010/main" val="41457493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7B475-308E-4981-B604-2F9BF36FBB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L"/>
          </a:p>
        </p:txBody>
      </p:sp>
      <p:sp>
        <p:nvSpPr>
          <p:cNvPr id="3" name="Text Placeholder 2">
            <a:extLst>
              <a:ext uri="{FF2B5EF4-FFF2-40B4-BE49-F238E27FC236}">
                <a16:creationId xmlns:a16="http://schemas.microsoft.com/office/drawing/2014/main" id="{1D0514B4-2D75-C1B9-EB40-79C8B6EAB3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6330F72-78E4-8BC4-3CCF-71A7BCA583D0}"/>
              </a:ext>
            </a:extLst>
          </p:cNvPr>
          <p:cNvSpPr>
            <a:spLocks noGrp="1"/>
          </p:cNvSpPr>
          <p:nvPr>
            <p:ph type="dt" sz="half" idx="10"/>
          </p:nvPr>
        </p:nvSpPr>
        <p:spPr/>
        <p:txBody>
          <a:bodyPr/>
          <a:lstStyle/>
          <a:p>
            <a:fld id="{C4F80FB4-18D2-8645-894B-9E7CE4448567}" type="datetimeFigureOut">
              <a:rPr lang="en-IL" smtClean="0"/>
              <a:t>08/01/2026</a:t>
            </a:fld>
            <a:endParaRPr lang="en-IL"/>
          </a:p>
        </p:txBody>
      </p:sp>
      <p:sp>
        <p:nvSpPr>
          <p:cNvPr id="5" name="Footer Placeholder 4">
            <a:extLst>
              <a:ext uri="{FF2B5EF4-FFF2-40B4-BE49-F238E27FC236}">
                <a16:creationId xmlns:a16="http://schemas.microsoft.com/office/drawing/2014/main" id="{5F18EA0B-E792-E4EF-5BF5-B8536B9C6049}"/>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ABF6D339-32D4-5D96-E951-C1E716A089C6}"/>
              </a:ext>
            </a:extLst>
          </p:cNvPr>
          <p:cNvSpPr>
            <a:spLocks noGrp="1"/>
          </p:cNvSpPr>
          <p:nvPr>
            <p:ph type="sldNum" sz="quarter" idx="12"/>
          </p:nvPr>
        </p:nvSpPr>
        <p:spPr/>
        <p:txBody>
          <a:bodyPr/>
          <a:lstStyle/>
          <a:p>
            <a:fld id="{FC3AC6C6-D394-284F-8509-3E976CFDF464}" type="slidenum">
              <a:rPr lang="en-IL" smtClean="0"/>
              <a:t>‹#›</a:t>
            </a:fld>
            <a:endParaRPr lang="en-IL"/>
          </a:p>
        </p:txBody>
      </p:sp>
    </p:spTree>
    <p:extLst>
      <p:ext uri="{BB962C8B-B14F-4D97-AF65-F5344CB8AC3E}">
        <p14:creationId xmlns:p14="http://schemas.microsoft.com/office/powerpoint/2010/main" val="21192148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7150A-F3B2-069B-C624-0E27173265F8}"/>
              </a:ext>
            </a:extLst>
          </p:cNvPr>
          <p:cNvSpPr>
            <a:spLocks noGrp="1"/>
          </p:cNvSpPr>
          <p:nvPr>
            <p:ph type="title"/>
          </p:nvPr>
        </p:nvSpPr>
        <p:spPr/>
        <p:txBody>
          <a:bodyPr/>
          <a:lstStyle/>
          <a:p>
            <a:r>
              <a:rPr lang="en-US"/>
              <a:t>Click to edit Master title style</a:t>
            </a:r>
            <a:endParaRPr lang="en-IL"/>
          </a:p>
        </p:txBody>
      </p:sp>
      <p:sp>
        <p:nvSpPr>
          <p:cNvPr id="3" name="Content Placeholder 2">
            <a:extLst>
              <a:ext uri="{FF2B5EF4-FFF2-40B4-BE49-F238E27FC236}">
                <a16:creationId xmlns:a16="http://schemas.microsoft.com/office/drawing/2014/main" id="{CD571272-34E6-0220-D3DD-BAF8680D6FF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Content Placeholder 3">
            <a:extLst>
              <a:ext uri="{FF2B5EF4-FFF2-40B4-BE49-F238E27FC236}">
                <a16:creationId xmlns:a16="http://schemas.microsoft.com/office/drawing/2014/main" id="{AFAE7CAC-0390-AE1C-944E-06D838A4E04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5" name="Date Placeholder 4">
            <a:extLst>
              <a:ext uri="{FF2B5EF4-FFF2-40B4-BE49-F238E27FC236}">
                <a16:creationId xmlns:a16="http://schemas.microsoft.com/office/drawing/2014/main" id="{BA9D6549-2142-72EB-0B0D-5F28F7BE2CC4}"/>
              </a:ext>
            </a:extLst>
          </p:cNvPr>
          <p:cNvSpPr>
            <a:spLocks noGrp="1"/>
          </p:cNvSpPr>
          <p:nvPr>
            <p:ph type="dt" sz="half" idx="10"/>
          </p:nvPr>
        </p:nvSpPr>
        <p:spPr/>
        <p:txBody>
          <a:bodyPr/>
          <a:lstStyle/>
          <a:p>
            <a:fld id="{C4F80FB4-18D2-8645-894B-9E7CE4448567}" type="datetimeFigureOut">
              <a:rPr lang="en-IL" smtClean="0"/>
              <a:t>08/01/2026</a:t>
            </a:fld>
            <a:endParaRPr lang="en-IL"/>
          </a:p>
        </p:txBody>
      </p:sp>
      <p:sp>
        <p:nvSpPr>
          <p:cNvPr id="6" name="Footer Placeholder 5">
            <a:extLst>
              <a:ext uri="{FF2B5EF4-FFF2-40B4-BE49-F238E27FC236}">
                <a16:creationId xmlns:a16="http://schemas.microsoft.com/office/drawing/2014/main" id="{78C553C0-F51B-5D72-18A9-B15F78AD9F91}"/>
              </a:ext>
            </a:extLst>
          </p:cNvPr>
          <p:cNvSpPr>
            <a:spLocks noGrp="1"/>
          </p:cNvSpPr>
          <p:nvPr>
            <p:ph type="ftr" sz="quarter" idx="11"/>
          </p:nvPr>
        </p:nvSpPr>
        <p:spPr/>
        <p:txBody>
          <a:bodyPr/>
          <a:lstStyle/>
          <a:p>
            <a:endParaRPr lang="en-IL"/>
          </a:p>
        </p:txBody>
      </p:sp>
      <p:sp>
        <p:nvSpPr>
          <p:cNvPr id="7" name="Slide Number Placeholder 6">
            <a:extLst>
              <a:ext uri="{FF2B5EF4-FFF2-40B4-BE49-F238E27FC236}">
                <a16:creationId xmlns:a16="http://schemas.microsoft.com/office/drawing/2014/main" id="{71AA9F19-3F01-C0A9-0341-074B1C25EC15}"/>
              </a:ext>
            </a:extLst>
          </p:cNvPr>
          <p:cNvSpPr>
            <a:spLocks noGrp="1"/>
          </p:cNvSpPr>
          <p:nvPr>
            <p:ph type="sldNum" sz="quarter" idx="12"/>
          </p:nvPr>
        </p:nvSpPr>
        <p:spPr/>
        <p:txBody>
          <a:bodyPr/>
          <a:lstStyle/>
          <a:p>
            <a:fld id="{FC3AC6C6-D394-284F-8509-3E976CFDF464}" type="slidenum">
              <a:rPr lang="en-IL" smtClean="0"/>
              <a:t>‹#›</a:t>
            </a:fld>
            <a:endParaRPr lang="en-IL"/>
          </a:p>
        </p:txBody>
      </p:sp>
    </p:spTree>
    <p:extLst>
      <p:ext uri="{BB962C8B-B14F-4D97-AF65-F5344CB8AC3E}">
        <p14:creationId xmlns:p14="http://schemas.microsoft.com/office/powerpoint/2010/main" val="36884946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81EB8-3143-5E4F-87D1-76ED13271755}"/>
              </a:ext>
            </a:extLst>
          </p:cNvPr>
          <p:cNvSpPr>
            <a:spLocks noGrp="1"/>
          </p:cNvSpPr>
          <p:nvPr>
            <p:ph type="title"/>
          </p:nvPr>
        </p:nvSpPr>
        <p:spPr>
          <a:xfrm>
            <a:off x="839788" y="365125"/>
            <a:ext cx="10515600" cy="1325563"/>
          </a:xfrm>
        </p:spPr>
        <p:txBody>
          <a:bodyPr/>
          <a:lstStyle/>
          <a:p>
            <a:r>
              <a:rPr lang="en-US"/>
              <a:t>Click to edit Master title style</a:t>
            </a:r>
            <a:endParaRPr lang="en-IL"/>
          </a:p>
        </p:txBody>
      </p:sp>
      <p:sp>
        <p:nvSpPr>
          <p:cNvPr id="3" name="Text Placeholder 2">
            <a:extLst>
              <a:ext uri="{FF2B5EF4-FFF2-40B4-BE49-F238E27FC236}">
                <a16:creationId xmlns:a16="http://schemas.microsoft.com/office/drawing/2014/main" id="{90330BC6-5D88-C881-D30E-21FD2A3F018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43C9879-BF93-9A9F-B195-223CB048BFC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5" name="Text Placeholder 4">
            <a:extLst>
              <a:ext uri="{FF2B5EF4-FFF2-40B4-BE49-F238E27FC236}">
                <a16:creationId xmlns:a16="http://schemas.microsoft.com/office/drawing/2014/main" id="{B35F1B5F-BA0D-F00F-6BE2-4AD54E738A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B6CDFC8-9BA0-0B93-1C6F-62B27B88480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7" name="Date Placeholder 6">
            <a:extLst>
              <a:ext uri="{FF2B5EF4-FFF2-40B4-BE49-F238E27FC236}">
                <a16:creationId xmlns:a16="http://schemas.microsoft.com/office/drawing/2014/main" id="{1A3DC12F-C964-7F22-70CE-3088925AA614}"/>
              </a:ext>
            </a:extLst>
          </p:cNvPr>
          <p:cNvSpPr>
            <a:spLocks noGrp="1"/>
          </p:cNvSpPr>
          <p:nvPr>
            <p:ph type="dt" sz="half" idx="10"/>
          </p:nvPr>
        </p:nvSpPr>
        <p:spPr/>
        <p:txBody>
          <a:bodyPr/>
          <a:lstStyle/>
          <a:p>
            <a:fld id="{C4F80FB4-18D2-8645-894B-9E7CE4448567}" type="datetimeFigureOut">
              <a:rPr lang="en-IL" smtClean="0"/>
              <a:t>08/01/2026</a:t>
            </a:fld>
            <a:endParaRPr lang="en-IL"/>
          </a:p>
        </p:txBody>
      </p:sp>
      <p:sp>
        <p:nvSpPr>
          <p:cNvPr id="8" name="Footer Placeholder 7">
            <a:extLst>
              <a:ext uri="{FF2B5EF4-FFF2-40B4-BE49-F238E27FC236}">
                <a16:creationId xmlns:a16="http://schemas.microsoft.com/office/drawing/2014/main" id="{D0632EB8-8562-EFCE-84BA-B2FCAFDF20E6}"/>
              </a:ext>
            </a:extLst>
          </p:cNvPr>
          <p:cNvSpPr>
            <a:spLocks noGrp="1"/>
          </p:cNvSpPr>
          <p:nvPr>
            <p:ph type="ftr" sz="quarter" idx="11"/>
          </p:nvPr>
        </p:nvSpPr>
        <p:spPr/>
        <p:txBody>
          <a:bodyPr/>
          <a:lstStyle/>
          <a:p>
            <a:endParaRPr lang="en-IL"/>
          </a:p>
        </p:txBody>
      </p:sp>
      <p:sp>
        <p:nvSpPr>
          <p:cNvPr id="9" name="Slide Number Placeholder 8">
            <a:extLst>
              <a:ext uri="{FF2B5EF4-FFF2-40B4-BE49-F238E27FC236}">
                <a16:creationId xmlns:a16="http://schemas.microsoft.com/office/drawing/2014/main" id="{9742513F-70D1-1BDA-D4A8-95A4843E8CA4}"/>
              </a:ext>
            </a:extLst>
          </p:cNvPr>
          <p:cNvSpPr>
            <a:spLocks noGrp="1"/>
          </p:cNvSpPr>
          <p:nvPr>
            <p:ph type="sldNum" sz="quarter" idx="12"/>
          </p:nvPr>
        </p:nvSpPr>
        <p:spPr/>
        <p:txBody>
          <a:bodyPr/>
          <a:lstStyle/>
          <a:p>
            <a:fld id="{FC3AC6C6-D394-284F-8509-3E976CFDF464}" type="slidenum">
              <a:rPr lang="en-IL" smtClean="0"/>
              <a:t>‹#›</a:t>
            </a:fld>
            <a:endParaRPr lang="en-IL"/>
          </a:p>
        </p:txBody>
      </p:sp>
    </p:spTree>
    <p:extLst>
      <p:ext uri="{BB962C8B-B14F-4D97-AF65-F5344CB8AC3E}">
        <p14:creationId xmlns:p14="http://schemas.microsoft.com/office/powerpoint/2010/main" val="31996117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6B9E66-0A40-FC64-C5B6-9D6DE780A84B}"/>
              </a:ext>
            </a:extLst>
          </p:cNvPr>
          <p:cNvSpPr>
            <a:spLocks noGrp="1"/>
          </p:cNvSpPr>
          <p:nvPr>
            <p:ph type="title"/>
          </p:nvPr>
        </p:nvSpPr>
        <p:spPr/>
        <p:txBody>
          <a:bodyPr/>
          <a:lstStyle/>
          <a:p>
            <a:r>
              <a:rPr lang="en-US"/>
              <a:t>Click to edit Master title style</a:t>
            </a:r>
            <a:endParaRPr lang="en-IL"/>
          </a:p>
        </p:txBody>
      </p:sp>
      <p:sp>
        <p:nvSpPr>
          <p:cNvPr id="3" name="Date Placeholder 2">
            <a:extLst>
              <a:ext uri="{FF2B5EF4-FFF2-40B4-BE49-F238E27FC236}">
                <a16:creationId xmlns:a16="http://schemas.microsoft.com/office/drawing/2014/main" id="{08F88E82-BAD2-D77C-D08F-A7CF5D6E2382}"/>
              </a:ext>
            </a:extLst>
          </p:cNvPr>
          <p:cNvSpPr>
            <a:spLocks noGrp="1"/>
          </p:cNvSpPr>
          <p:nvPr>
            <p:ph type="dt" sz="half" idx="10"/>
          </p:nvPr>
        </p:nvSpPr>
        <p:spPr/>
        <p:txBody>
          <a:bodyPr/>
          <a:lstStyle/>
          <a:p>
            <a:fld id="{C4F80FB4-18D2-8645-894B-9E7CE4448567}" type="datetimeFigureOut">
              <a:rPr lang="en-IL" smtClean="0"/>
              <a:t>08/01/2026</a:t>
            </a:fld>
            <a:endParaRPr lang="en-IL"/>
          </a:p>
        </p:txBody>
      </p:sp>
      <p:sp>
        <p:nvSpPr>
          <p:cNvPr id="4" name="Footer Placeholder 3">
            <a:extLst>
              <a:ext uri="{FF2B5EF4-FFF2-40B4-BE49-F238E27FC236}">
                <a16:creationId xmlns:a16="http://schemas.microsoft.com/office/drawing/2014/main" id="{EFA37B1C-96B6-1696-1712-D313CF1706A5}"/>
              </a:ext>
            </a:extLst>
          </p:cNvPr>
          <p:cNvSpPr>
            <a:spLocks noGrp="1"/>
          </p:cNvSpPr>
          <p:nvPr>
            <p:ph type="ftr" sz="quarter" idx="11"/>
          </p:nvPr>
        </p:nvSpPr>
        <p:spPr/>
        <p:txBody>
          <a:bodyPr/>
          <a:lstStyle/>
          <a:p>
            <a:endParaRPr lang="en-IL"/>
          </a:p>
        </p:txBody>
      </p:sp>
      <p:sp>
        <p:nvSpPr>
          <p:cNvPr id="5" name="Slide Number Placeholder 4">
            <a:extLst>
              <a:ext uri="{FF2B5EF4-FFF2-40B4-BE49-F238E27FC236}">
                <a16:creationId xmlns:a16="http://schemas.microsoft.com/office/drawing/2014/main" id="{C146121C-D8E2-3FA3-78F6-A4A4136B0A39}"/>
              </a:ext>
            </a:extLst>
          </p:cNvPr>
          <p:cNvSpPr>
            <a:spLocks noGrp="1"/>
          </p:cNvSpPr>
          <p:nvPr>
            <p:ph type="sldNum" sz="quarter" idx="12"/>
          </p:nvPr>
        </p:nvSpPr>
        <p:spPr/>
        <p:txBody>
          <a:bodyPr/>
          <a:lstStyle/>
          <a:p>
            <a:fld id="{FC3AC6C6-D394-284F-8509-3E976CFDF464}" type="slidenum">
              <a:rPr lang="en-IL" smtClean="0"/>
              <a:t>‹#›</a:t>
            </a:fld>
            <a:endParaRPr lang="en-IL"/>
          </a:p>
        </p:txBody>
      </p:sp>
    </p:spTree>
    <p:extLst>
      <p:ext uri="{BB962C8B-B14F-4D97-AF65-F5344CB8AC3E}">
        <p14:creationId xmlns:p14="http://schemas.microsoft.com/office/powerpoint/2010/main" val="3208005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8D421BD-0E68-28EC-D232-3A2957D23751}"/>
              </a:ext>
            </a:extLst>
          </p:cNvPr>
          <p:cNvSpPr>
            <a:spLocks noGrp="1"/>
          </p:cNvSpPr>
          <p:nvPr>
            <p:ph type="dt" sz="half" idx="10"/>
          </p:nvPr>
        </p:nvSpPr>
        <p:spPr/>
        <p:txBody>
          <a:bodyPr/>
          <a:lstStyle/>
          <a:p>
            <a:fld id="{C4F80FB4-18D2-8645-894B-9E7CE4448567}" type="datetimeFigureOut">
              <a:rPr lang="en-IL" smtClean="0"/>
              <a:t>08/01/2026</a:t>
            </a:fld>
            <a:endParaRPr lang="en-IL"/>
          </a:p>
        </p:txBody>
      </p:sp>
      <p:sp>
        <p:nvSpPr>
          <p:cNvPr id="3" name="Footer Placeholder 2">
            <a:extLst>
              <a:ext uri="{FF2B5EF4-FFF2-40B4-BE49-F238E27FC236}">
                <a16:creationId xmlns:a16="http://schemas.microsoft.com/office/drawing/2014/main" id="{40EA9B92-86D0-EAF6-E4C4-D8ABA4EC2C7A}"/>
              </a:ext>
            </a:extLst>
          </p:cNvPr>
          <p:cNvSpPr>
            <a:spLocks noGrp="1"/>
          </p:cNvSpPr>
          <p:nvPr>
            <p:ph type="ftr" sz="quarter" idx="11"/>
          </p:nvPr>
        </p:nvSpPr>
        <p:spPr/>
        <p:txBody>
          <a:bodyPr/>
          <a:lstStyle/>
          <a:p>
            <a:endParaRPr lang="en-IL"/>
          </a:p>
        </p:txBody>
      </p:sp>
      <p:sp>
        <p:nvSpPr>
          <p:cNvPr id="4" name="Slide Number Placeholder 3">
            <a:extLst>
              <a:ext uri="{FF2B5EF4-FFF2-40B4-BE49-F238E27FC236}">
                <a16:creationId xmlns:a16="http://schemas.microsoft.com/office/drawing/2014/main" id="{CA05FC24-E458-EDD5-599B-D02E9D7DAD50}"/>
              </a:ext>
            </a:extLst>
          </p:cNvPr>
          <p:cNvSpPr>
            <a:spLocks noGrp="1"/>
          </p:cNvSpPr>
          <p:nvPr>
            <p:ph type="sldNum" sz="quarter" idx="12"/>
          </p:nvPr>
        </p:nvSpPr>
        <p:spPr/>
        <p:txBody>
          <a:bodyPr/>
          <a:lstStyle/>
          <a:p>
            <a:fld id="{FC3AC6C6-D394-284F-8509-3E976CFDF464}" type="slidenum">
              <a:rPr lang="en-IL" smtClean="0"/>
              <a:t>‹#›</a:t>
            </a:fld>
            <a:endParaRPr lang="en-IL"/>
          </a:p>
        </p:txBody>
      </p:sp>
    </p:spTree>
    <p:extLst>
      <p:ext uri="{BB962C8B-B14F-4D97-AF65-F5344CB8AC3E}">
        <p14:creationId xmlns:p14="http://schemas.microsoft.com/office/powerpoint/2010/main" val="19495235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A5FE6-2851-BFBE-B3EF-84230E34FD7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L"/>
          </a:p>
        </p:txBody>
      </p:sp>
      <p:sp>
        <p:nvSpPr>
          <p:cNvPr id="3" name="Content Placeholder 2">
            <a:extLst>
              <a:ext uri="{FF2B5EF4-FFF2-40B4-BE49-F238E27FC236}">
                <a16:creationId xmlns:a16="http://schemas.microsoft.com/office/drawing/2014/main" id="{CF48DBF8-4DFE-E2E5-4DF4-1E2BF6B62B8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Text Placeholder 3">
            <a:extLst>
              <a:ext uri="{FF2B5EF4-FFF2-40B4-BE49-F238E27FC236}">
                <a16:creationId xmlns:a16="http://schemas.microsoft.com/office/drawing/2014/main" id="{879E5341-3DBC-8F3D-AA0E-284D3A0197C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CD0F842-8E79-FB5E-EF72-58017E1209B3}"/>
              </a:ext>
            </a:extLst>
          </p:cNvPr>
          <p:cNvSpPr>
            <a:spLocks noGrp="1"/>
          </p:cNvSpPr>
          <p:nvPr>
            <p:ph type="dt" sz="half" idx="10"/>
          </p:nvPr>
        </p:nvSpPr>
        <p:spPr/>
        <p:txBody>
          <a:bodyPr/>
          <a:lstStyle/>
          <a:p>
            <a:fld id="{C4F80FB4-18D2-8645-894B-9E7CE4448567}" type="datetimeFigureOut">
              <a:rPr lang="en-IL" smtClean="0"/>
              <a:t>08/01/2026</a:t>
            </a:fld>
            <a:endParaRPr lang="en-IL"/>
          </a:p>
        </p:txBody>
      </p:sp>
      <p:sp>
        <p:nvSpPr>
          <p:cNvPr id="6" name="Footer Placeholder 5">
            <a:extLst>
              <a:ext uri="{FF2B5EF4-FFF2-40B4-BE49-F238E27FC236}">
                <a16:creationId xmlns:a16="http://schemas.microsoft.com/office/drawing/2014/main" id="{3E4D7F55-6036-8573-16FA-0ACE6AA543C9}"/>
              </a:ext>
            </a:extLst>
          </p:cNvPr>
          <p:cNvSpPr>
            <a:spLocks noGrp="1"/>
          </p:cNvSpPr>
          <p:nvPr>
            <p:ph type="ftr" sz="quarter" idx="11"/>
          </p:nvPr>
        </p:nvSpPr>
        <p:spPr/>
        <p:txBody>
          <a:bodyPr/>
          <a:lstStyle/>
          <a:p>
            <a:endParaRPr lang="en-IL"/>
          </a:p>
        </p:txBody>
      </p:sp>
      <p:sp>
        <p:nvSpPr>
          <p:cNvPr id="7" name="Slide Number Placeholder 6">
            <a:extLst>
              <a:ext uri="{FF2B5EF4-FFF2-40B4-BE49-F238E27FC236}">
                <a16:creationId xmlns:a16="http://schemas.microsoft.com/office/drawing/2014/main" id="{7596031E-F78D-B54C-F6A7-7BD9E45D2875}"/>
              </a:ext>
            </a:extLst>
          </p:cNvPr>
          <p:cNvSpPr>
            <a:spLocks noGrp="1"/>
          </p:cNvSpPr>
          <p:nvPr>
            <p:ph type="sldNum" sz="quarter" idx="12"/>
          </p:nvPr>
        </p:nvSpPr>
        <p:spPr/>
        <p:txBody>
          <a:bodyPr/>
          <a:lstStyle/>
          <a:p>
            <a:fld id="{FC3AC6C6-D394-284F-8509-3E976CFDF464}" type="slidenum">
              <a:rPr lang="en-IL" smtClean="0"/>
              <a:t>‹#›</a:t>
            </a:fld>
            <a:endParaRPr lang="en-IL"/>
          </a:p>
        </p:txBody>
      </p:sp>
    </p:spTree>
    <p:extLst>
      <p:ext uri="{BB962C8B-B14F-4D97-AF65-F5344CB8AC3E}">
        <p14:creationId xmlns:p14="http://schemas.microsoft.com/office/powerpoint/2010/main" val="18705129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C9273D-0238-6133-847A-E71FB9BDE2B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L"/>
          </a:p>
        </p:txBody>
      </p:sp>
      <p:sp>
        <p:nvSpPr>
          <p:cNvPr id="3" name="Picture Placeholder 2">
            <a:extLst>
              <a:ext uri="{FF2B5EF4-FFF2-40B4-BE49-F238E27FC236}">
                <a16:creationId xmlns:a16="http://schemas.microsoft.com/office/drawing/2014/main" id="{F5404A75-F035-C1EA-7CF7-A01EA68DC0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L"/>
          </a:p>
        </p:txBody>
      </p:sp>
      <p:sp>
        <p:nvSpPr>
          <p:cNvPr id="4" name="Text Placeholder 3">
            <a:extLst>
              <a:ext uri="{FF2B5EF4-FFF2-40B4-BE49-F238E27FC236}">
                <a16:creationId xmlns:a16="http://schemas.microsoft.com/office/drawing/2014/main" id="{A3414028-52BD-1D12-F91D-34A5B551C79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3C8944-914D-E8FF-D26C-983BF95D5FC6}"/>
              </a:ext>
            </a:extLst>
          </p:cNvPr>
          <p:cNvSpPr>
            <a:spLocks noGrp="1"/>
          </p:cNvSpPr>
          <p:nvPr>
            <p:ph type="dt" sz="half" idx="10"/>
          </p:nvPr>
        </p:nvSpPr>
        <p:spPr/>
        <p:txBody>
          <a:bodyPr/>
          <a:lstStyle/>
          <a:p>
            <a:fld id="{C4F80FB4-18D2-8645-894B-9E7CE4448567}" type="datetimeFigureOut">
              <a:rPr lang="en-IL" smtClean="0"/>
              <a:t>08/01/2026</a:t>
            </a:fld>
            <a:endParaRPr lang="en-IL"/>
          </a:p>
        </p:txBody>
      </p:sp>
      <p:sp>
        <p:nvSpPr>
          <p:cNvPr id="6" name="Footer Placeholder 5">
            <a:extLst>
              <a:ext uri="{FF2B5EF4-FFF2-40B4-BE49-F238E27FC236}">
                <a16:creationId xmlns:a16="http://schemas.microsoft.com/office/drawing/2014/main" id="{658EA5E4-9EB0-0968-43FC-F26587095960}"/>
              </a:ext>
            </a:extLst>
          </p:cNvPr>
          <p:cNvSpPr>
            <a:spLocks noGrp="1"/>
          </p:cNvSpPr>
          <p:nvPr>
            <p:ph type="ftr" sz="quarter" idx="11"/>
          </p:nvPr>
        </p:nvSpPr>
        <p:spPr/>
        <p:txBody>
          <a:bodyPr/>
          <a:lstStyle/>
          <a:p>
            <a:endParaRPr lang="en-IL"/>
          </a:p>
        </p:txBody>
      </p:sp>
      <p:sp>
        <p:nvSpPr>
          <p:cNvPr id="7" name="Slide Number Placeholder 6">
            <a:extLst>
              <a:ext uri="{FF2B5EF4-FFF2-40B4-BE49-F238E27FC236}">
                <a16:creationId xmlns:a16="http://schemas.microsoft.com/office/drawing/2014/main" id="{4B266ADC-0A54-FC85-0213-DA245098CC4C}"/>
              </a:ext>
            </a:extLst>
          </p:cNvPr>
          <p:cNvSpPr>
            <a:spLocks noGrp="1"/>
          </p:cNvSpPr>
          <p:nvPr>
            <p:ph type="sldNum" sz="quarter" idx="12"/>
          </p:nvPr>
        </p:nvSpPr>
        <p:spPr/>
        <p:txBody>
          <a:bodyPr/>
          <a:lstStyle/>
          <a:p>
            <a:fld id="{FC3AC6C6-D394-284F-8509-3E976CFDF464}" type="slidenum">
              <a:rPr lang="en-IL" smtClean="0"/>
              <a:t>‹#›</a:t>
            </a:fld>
            <a:endParaRPr lang="en-IL"/>
          </a:p>
        </p:txBody>
      </p:sp>
    </p:spTree>
    <p:extLst>
      <p:ext uri="{BB962C8B-B14F-4D97-AF65-F5344CB8AC3E}">
        <p14:creationId xmlns:p14="http://schemas.microsoft.com/office/powerpoint/2010/main" val="27801746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FC57D-93CA-73B3-58AB-5514513D2107}"/>
              </a:ext>
            </a:extLst>
          </p:cNvPr>
          <p:cNvSpPr>
            <a:spLocks noGrp="1"/>
          </p:cNvSpPr>
          <p:nvPr>
            <p:ph type="title"/>
          </p:nvPr>
        </p:nvSpPr>
        <p:spPr/>
        <p:txBody>
          <a:bodyPr/>
          <a:lstStyle/>
          <a:p>
            <a:r>
              <a:rPr lang="en-US"/>
              <a:t>Click to edit Master title style</a:t>
            </a:r>
            <a:endParaRPr lang="en-IL"/>
          </a:p>
        </p:txBody>
      </p:sp>
      <p:sp>
        <p:nvSpPr>
          <p:cNvPr id="3" name="Vertical Text Placeholder 2">
            <a:extLst>
              <a:ext uri="{FF2B5EF4-FFF2-40B4-BE49-F238E27FC236}">
                <a16:creationId xmlns:a16="http://schemas.microsoft.com/office/drawing/2014/main" id="{8C1EC963-5DA5-5421-93EE-1E5B665745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3AB526A9-457E-EC84-9D64-33091592F78F}"/>
              </a:ext>
            </a:extLst>
          </p:cNvPr>
          <p:cNvSpPr>
            <a:spLocks noGrp="1"/>
          </p:cNvSpPr>
          <p:nvPr>
            <p:ph type="dt" sz="half" idx="10"/>
          </p:nvPr>
        </p:nvSpPr>
        <p:spPr/>
        <p:txBody>
          <a:bodyPr/>
          <a:lstStyle/>
          <a:p>
            <a:fld id="{C4F80FB4-18D2-8645-894B-9E7CE4448567}" type="datetimeFigureOut">
              <a:rPr lang="en-IL" smtClean="0"/>
              <a:t>08/01/2026</a:t>
            </a:fld>
            <a:endParaRPr lang="en-IL"/>
          </a:p>
        </p:txBody>
      </p:sp>
      <p:sp>
        <p:nvSpPr>
          <p:cNvPr id="5" name="Footer Placeholder 4">
            <a:extLst>
              <a:ext uri="{FF2B5EF4-FFF2-40B4-BE49-F238E27FC236}">
                <a16:creationId xmlns:a16="http://schemas.microsoft.com/office/drawing/2014/main" id="{4C67167D-FC5A-1A3D-EFC0-BE5DCA4BB719}"/>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D7C2401D-6332-15AA-4977-15ED900346C3}"/>
              </a:ext>
            </a:extLst>
          </p:cNvPr>
          <p:cNvSpPr>
            <a:spLocks noGrp="1"/>
          </p:cNvSpPr>
          <p:nvPr>
            <p:ph type="sldNum" sz="quarter" idx="12"/>
          </p:nvPr>
        </p:nvSpPr>
        <p:spPr/>
        <p:txBody>
          <a:bodyPr/>
          <a:lstStyle/>
          <a:p>
            <a:fld id="{FC3AC6C6-D394-284F-8509-3E976CFDF464}" type="slidenum">
              <a:rPr lang="en-IL" smtClean="0"/>
              <a:t>‹#›</a:t>
            </a:fld>
            <a:endParaRPr lang="en-IL"/>
          </a:p>
        </p:txBody>
      </p:sp>
    </p:spTree>
    <p:extLst>
      <p:ext uri="{BB962C8B-B14F-4D97-AF65-F5344CB8AC3E}">
        <p14:creationId xmlns:p14="http://schemas.microsoft.com/office/powerpoint/2010/main" val="17474953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8FD5FE1-7AD8-E12F-6100-A55FBD382EF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L"/>
          </a:p>
        </p:txBody>
      </p:sp>
      <p:sp>
        <p:nvSpPr>
          <p:cNvPr id="3" name="Vertical Text Placeholder 2">
            <a:extLst>
              <a:ext uri="{FF2B5EF4-FFF2-40B4-BE49-F238E27FC236}">
                <a16:creationId xmlns:a16="http://schemas.microsoft.com/office/drawing/2014/main" id="{782EA2E8-E588-1D96-15F0-975DB5A74AA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B93D2C6C-DAC1-74F6-00DA-1F846CD57160}"/>
              </a:ext>
            </a:extLst>
          </p:cNvPr>
          <p:cNvSpPr>
            <a:spLocks noGrp="1"/>
          </p:cNvSpPr>
          <p:nvPr>
            <p:ph type="dt" sz="half" idx="10"/>
          </p:nvPr>
        </p:nvSpPr>
        <p:spPr/>
        <p:txBody>
          <a:bodyPr/>
          <a:lstStyle/>
          <a:p>
            <a:fld id="{C4F80FB4-18D2-8645-894B-9E7CE4448567}" type="datetimeFigureOut">
              <a:rPr lang="en-IL" smtClean="0"/>
              <a:t>08/01/2026</a:t>
            </a:fld>
            <a:endParaRPr lang="en-IL"/>
          </a:p>
        </p:txBody>
      </p:sp>
      <p:sp>
        <p:nvSpPr>
          <p:cNvPr id="5" name="Footer Placeholder 4">
            <a:extLst>
              <a:ext uri="{FF2B5EF4-FFF2-40B4-BE49-F238E27FC236}">
                <a16:creationId xmlns:a16="http://schemas.microsoft.com/office/drawing/2014/main" id="{73A67DDF-38AB-6448-62E7-AEE641165C63}"/>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5CD6E2CA-BDB7-E0AC-4ACF-4A2F1B20EC94}"/>
              </a:ext>
            </a:extLst>
          </p:cNvPr>
          <p:cNvSpPr>
            <a:spLocks noGrp="1"/>
          </p:cNvSpPr>
          <p:nvPr>
            <p:ph type="sldNum" sz="quarter" idx="12"/>
          </p:nvPr>
        </p:nvSpPr>
        <p:spPr/>
        <p:txBody>
          <a:bodyPr/>
          <a:lstStyle/>
          <a:p>
            <a:fld id="{FC3AC6C6-D394-284F-8509-3E976CFDF464}" type="slidenum">
              <a:rPr lang="en-IL" smtClean="0"/>
              <a:t>‹#›</a:t>
            </a:fld>
            <a:endParaRPr lang="en-IL"/>
          </a:p>
        </p:txBody>
      </p:sp>
    </p:spTree>
    <p:extLst>
      <p:ext uri="{BB962C8B-B14F-4D97-AF65-F5344CB8AC3E}">
        <p14:creationId xmlns:p14="http://schemas.microsoft.com/office/powerpoint/2010/main" val="20296238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17B4B6-35F0-7186-3083-CDD9FEA55FB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L"/>
          </a:p>
        </p:txBody>
      </p:sp>
      <p:sp>
        <p:nvSpPr>
          <p:cNvPr id="3" name="Text Placeholder 2">
            <a:extLst>
              <a:ext uri="{FF2B5EF4-FFF2-40B4-BE49-F238E27FC236}">
                <a16:creationId xmlns:a16="http://schemas.microsoft.com/office/drawing/2014/main" id="{59274BFA-85B9-71B9-F04C-4F730939147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8258E8CD-41C1-B038-900F-CCC23593B15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4F80FB4-18D2-8645-894B-9E7CE4448567}" type="datetimeFigureOut">
              <a:rPr lang="en-IL" smtClean="0"/>
              <a:t>08/01/2026</a:t>
            </a:fld>
            <a:endParaRPr lang="en-IL"/>
          </a:p>
        </p:txBody>
      </p:sp>
      <p:sp>
        <p:nvSpPr>
          <p:cNvPr id="5" name="Footer Placeholder 4">
            <a:extLst>
              <a:ext uri="{FF2B5EF4-FFF2-40B4-BE49-F238E27FC236}">
                <a16:creationId xmlns:a16="http://schemas.microsoft.com/office/drawing/2014/main" id="{CA9B0033-4AB9-FBF7-C7E0-C4EECA811E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L"/>
          </a:p>
        </p:txBody>
      </p:sp>
      <p:sp>
        <p:nvSpPr>
          <p:cNvPr id="6" name="Slide Number Placeholder 5">
            <a:extLst>
              <a:ext uri="{FF2B5EF4-FFF2-40B4-BE49-F238E27FC236}">
                <a16:creationId xmlns:a16="http://schemas.microsoft.com/office/drawing/2014/main" id="{D42007B5-B36B-7706-BDD5-51EECAA7124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C3AC6C6-D394-284F-8509-3E976CFDF464}" type="slidenum">
              <a:rPr lang="en-IL" smtClean="0"/>
              <a:t>‹#›</a:t>
            </a:fld>
            <a:endParaRPr lang="en-IL"/>
          </a:p>
        </p:txBody>
      </p:sp>
    </p:spTree>
    <p:extLst>
      <p:ext uri="{BB962C8B-B14F-4D97-AF65-F5344CB8AC3E}">
        <p14:creationId xmlns:p14="http://schemas.microsoft.com/office/powerpoint/2010/main" val="8539471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ED2F71E-95FF-E9CB-4CAD-3BE42D7AEF4A}"/>
              </a:ext>
            </a:extLst>
          </p:cNvPr>
          <p:cNvPicPr>
            <a:picLocks noChangeAspect="1"/>
          </p:cNvPicPr>
          <p:nvPr/>
        </p:nvPicPr>
        <p:blipFill>
          <a:blip r:embed="rId2"/>
          <a:stretch>
            <a:fillRect/>
          </a:stretch>
        </p:blipFill>
        <p:spPr>
          <a:xfrm>
            <a:off x="3873499" y="382588"/>
            <a:ext cx="4445000" cy="1295400"/>
          </a:xfrm>
          <a:prstGeom prst="rect">
            <a:avLst/>
          </a:prstGeom>
        </p:spPr>
      </p:pic>
      <p:sp>
        <p:nvSpPr>
          <p:cNvPr id="7" name="TextBox 6">
            <a:extLst>
              <a:ext uri="{FF2B5EF4-FFF2-40B4-BE49-F238E27FC236}">
                <a16:creationId xmlns:a16="http://schemas.microsoft.com/office/drawing/2014/main" id="{182E2DC1-5ED7-953B-2632-9A87477AEB9F}"/>
              </a:ext>
            </a:extLst>
          </p:cNvPr>
          <p:cNvSpPr txBox="1"/>
          <p:nvPr/>
        </p:nvSpPr>
        <p:spPr>
          <a:xfrm>
            <a:off x="1163052" y="1858764"/>
            <a:ext cx="9865895" cy="4616648"/>
          </a:xfrm>
          <a:prstGeom prst="rect">
            <a:avLst/>
          </a:prstGeom>
          <a:noFill/>
        </p:spPr>
        <p:txBody>
          <a:bodyPr wrap="square" rtlCol="0">
            <a:spAutoFit/>
          </a:bodyPr>
          <a:lstStyle/>
          <a:p>
            <a:pPr algn="ctr"/>
            <a:r>
              <a:rPr lang="en-IL" sz="1600" b="1" dirty="0"/>
              <a:t>Software Engineering Department</a:t>
            </a:r>
            <a:endParaRPr lang="en-IL" sz="1600" dirty="0"/>
          </a:p>
          <a:p>
            <a:pPr algn="ctr"/>
            <a:r>
              <a:rPr lang="en-IL" sz="1600" b="1" dirty="0"/>
              <a:t>Braude College of Engineering</a:t>
            </a:r>
            <a:endParaRPr lang="en-IL" sz="1600" dirty="0"/>
          </a:p>
          <a:p>
            <a:pPr algn="ctr"/>
            <a:r>
              <a:rPr lang="en-IL" sz="1600" b="1" dirty="0"/>
              <a:t>Final Project – Phase A (61998) </a:t>
            </a:r>
            <a:endParaRPr lang="en-IL" sz="1600" dirty="0"/>
          </a:p>
          <a:p>
            <a:pPr algn="ctr"/>
            <a:r>
              <a:rPr lang="en-IL" sz="1600" b="1" dirty="0"/>
              <a:t> </a:t>
            </a:r>
            <a:endParaRPr lang="en-IL" sz="1600" dirty="0"/>
          </a:p>
          <a:p>
            <a:pPr algn="ctr"/>
            <a:r>
              <a:rPr lang="en-IL" sz="1600" b="1" dirty="0"/>
              <a:t>Dynamic Labyrinths - Asymmetric Hunter vs. Builder</a:t>
            </a:r>
            <a:endParaRPr lang="en-IL" sz="1600" dirty="0"/>
          </a:p>
          <a:p>
            <a:pPr algn="ctr"/>
            <a:endParaRPr lang="en-IL" sz="1600" dirty="0"/>
          </a:p>
          <a:p>
            <a:pPr algn="ctr"/>
            <a:r>
              <a:rPr lang="en-IL" sz="1600" b="1" dirty="0"/>
              <a:t>CODE: 26-1-D-22</a:t>
            </a:r>
            <a:endParaRPr lang="en-IL" sz="1600" dirty="0"/>
          </a:p>
          <a:p>
            <a:pPr algn="ctr"/>
            <a:br>
              <a:rPr lang="en-IL" sz="1600" dirty="0"/>
            </a:br>
            <a:r>
              <a:rPr lang="en-IL" sz="1600" dirty="0"/>
              <a:t>By:</a:t>
            </a:r>
            <a:br>
              <a:rPr lang="en-IL" sz="1600" b="1" dirty="0"/>
            </a:br>
            <a:r>
              <a:rPr lang="en-IL" sz="1600" dirty="0"/>
              <a:t>Elio Pikuli</a:t>
            </a:r>
            <a:br>
              <a:rPr lang="en-IL" sz="1600" dirty="0"/>
            </a:br>
            <a:r>
              <a:rPr lang="en-IL" sz="1600" dirty="0"/>
              <a:t>Maxim Lazarenko</a:t>
            </a:r>
          </a:p>
          <a:p>
            <a:pPr algn="ctr"/>
            <a:r>
              <a:rPr lang="en-IL" sz="1600" b="1" dirty="0"/>
              <a:t> </a:t>
            </a:r>
            <a:endParaRPr lang="en-IL" sz="1600" dirty="0"/>
          </a:p>
          <a:p>
            <a:pPr algn="ctr"/>
            <a:r>
              <a:rPr lang="en-IL" sz="1600" dirty="0"/>
              <a:t>Advisor:</a:t>
            </a:r>
            <a:br>
              <a:rPr lang="en-IL" sz="1600" dirty="0"/>
            </a:br>
            <a:r>
              <a:rPr lang="en-IL" sz="1600" dirty="0"/>
              <a:t> PhD. Sulami Moshe</a:t>
            </a:r>
            <a:br>
              <a:rPr lang="en-IL" sz="1600" dirty="0"/>
            </a:br>
            <a:endParaRPr lang="en-IL" sz="1600" dirty="0"/>
          </a:p>
          <a:p>
            <a:pPr algn="ctr"/>
            <a:r>
              <a:rPr lang="en-IL" sz="1600" dirty="0"/>
              <a:t>Link to GitHub:</a:t>
            </a:r>
            <a:br>
              <a:rPr lang="en-IL" sz="1600" dirty="0"/>
            </a:br>
            <a:r>
              <a:rPr lang="en-IL" sz="1600" dirty="0"/>
              <a:t>https://github.com/ElioPikuli/Dynamic-Labyrinths---Asymmetric-Hunter-vs.-Builder.git</a:t>
            </a:r>
          </a:p>
          <a:p>
            <a:pPr algn="ctr"/>
            <a:endParaRPr lang="en-IL" sz="1600" dirty="0"/>
          </a:p>
        </p:txBody>
      </p:sp>
    </p:spTree>
    <p:extLst>
      <p:ext uri="{BB962C8B-B14F-4D97-AF65-F5344CB8AC3E}">
        <p14:creationId xmlns:p14="http://schemas.microsoft.com/office/powerpoint/2010/main" val="37881003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501472-4855-64EB-22AD-0C296D22363C}"/>
              </a:ext>
            </a:extLst>
          </p:cNvPr>
          <p:cNvSpPr>
            <a:spLocks noGrp="1"/>
          </p:cNvSpPr>
          <p:nvPr>
            <p:ph type="title"/>
          </p:nvPr>
        </p:nvSpPr>
        <p:spPr/>
        <p:txBody>
          <a:bodyPr/>
          <a:lstStyle/>
          <a:p>
            <a:r>
              <a:rPr lang="en-US"/>
              <a:t>The Challenge: Learning Algorithms Can</a:t>
            </a:r>
            <a:br>
              <a:rPr lang="en-US"/>
            </a:br>
            <a:r>
              <a:rPr lang="en-US"/>
              <a:t>Be Abstract and Disconnected</a:t>
            </a:r>
            <a:endParaRPr lang="en-IL" dirty="0"/>
          </a:p>
        </p:txBody>
      </p:sp>
      <p:pic>
        <p:nvPicPr>
          <p:cNvPr id="7" name="Content Placeholder 6">
            <a:extLst>
              <a:ext uri="{FF2B5EF4-FFF2-40B4-BE49-F238E27FC236}">
                <a16:creationId xmlns:a16="http://schemas.microsoft.com/office/drawing/2014/main" id="{BB03AB3C-1590-19E0-1D37-626CC14AAA79}"/>
              </a:ext>
            </a:extLst>
          </p:cNvPr>
          <p:cNvPicPr>
            <a:picLocks noGrp="1" noChangeAspect="1"/>
          </p:cNvPicPr>
          <p:nvPr>
            <p:ph idx="1"/>
          </p:nvPr>
        </p:nvPicPr>
        <p:blipFill>
          <a:blip r:embed="rId2"/>
          <a:stretch>
            <a:fillRect/>
          </a:stretch>
        </p:blipFill>
        <p:spPr>
          <a:xfrm>
            <a:off x="838200" y="2460812"/>
            <a:ext cx="4177675" cy="2810436"/>
          </a:xfrm>
        </p:spPr>
      </p:pic>
      <p:sp>
        <p:nvSpPr>
          <p:cNvPr id="8" name="Content Placeholder 2">
            <a:extLst>
              <a:ext uri="{FF2B5EF4-FFF2-40B4-BE49-F238E27FC236}">
                <a16:creationId xmlns:a16="http://schemas.microsoft.com/office/drawing/2014/main" id="{75320643-3D2E-C523-74F9-89FB6E62862F}"/>
              </a:ext>
            </a:extLst>
          </p:cNvPr>
          <p:cNvSpPr txBox="1">
            <a:spLocks/>
          </p:cNvSpPr>
          <p:nvPr/>
        </p:nvSpPr>
        <p:spPr>
          <a:xfrm>
            <a:off x="5015875" y="2134068"/>
            <a:ext cx="6713552" cy="4119172"/>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200" dirty="0"/>
              <a:t>Traditional methods often rely on "passive information transfer," using static diagrams and pseudocode that can lead to student disengagement.</a:t>
            </a:r>
          </a:p>
          <a:p>
            <a:r>
              <a:rPr lang="en-US" sz="2200" dirty="0"/>
              <a:t>This "one-size-fits-all" approach can fail to stimulate interest, especially for students who struggle with abstract concepts.</a:t>
            </a:r>
          </a:p>
          <a:p>
            <a:r>
              <a:rPr lang="en-US" sz="2200" dirty="0"/>
              <a:t>There is a significant need for interactive, student-centered tools that bring complex computer science concepts to life.</a:t>
            </a:r>
            <a:endParaRPr lang="en-IL" sz="2200" dirty="0"/>
          </a:p>
        </p:txBody>
      </p:sp>
    </p:spTree>
    <p:extLst>
      <p:ext uri="{BB962C8B-B14F-4D97-AF65-F5344CB8AC3E}">
        <p14:creationId xmlns:p14="http://schemas.microsoft.com/office/powerpoint/2010/main" val="27186645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4670A05-86C5-DDA8-C4D5-354C4949D105}"/>
              </a:ext>
            </a:extLst>
          </p:cNvPr>
          <p:cNvPicPr>
            <a:picLocks noChangeAspect="1"/>
          </p:cNvPicPr>
          <p:nvPr/>
        </p:nvPicPr>
        <p:blipFill>
          <a:blip r:embed="rId2"/>
          <a:stretch>
            <a:fillRect/>
          </a:stretch>
        </p:blipFill>
        <p:spPr>
          <a:xfrm>
            <a:off x="1465667" y="2841707"/>
            <a:ext cx="699536" cy="1154235"/>
          </a:xfrm>
          <a:prstGeom prst="rect">
            <a:avLst/>
          </a:prstGeom>
        </p:spPr>
      </p:pic>
      <p:pic>
        <p:nvPicPr>
          <p:cNvPr id="14" name="Picture 13">
            <a:extLst>
              <a:ext uri="{FF2B5EF4-FFF2-40B4-BE49-F238E27FC236}">
                <a16:creationId xmlns:a16="http://schemas.microsoft.com/office/drawing/2014/main" id="{EBDBE146-6A61-F8C4-8A0C-9EC8316D7D28}"/>
              </a:ext>
            </a:extLst>
          </p:cNvPr>
          <p:cNvPicPr>
            <a:picLocks noChangeAspect="1"/>
          </p:cNvPicPr>
          <p:nvPr/>
        </p:nvPicPr>
        <p:blipFill>
          <a:blip r:embed="rId2"/>
          <a:stretch>
            <a:fillRect/>
          </a:stretch>
        </p:blipFill>
        <p:spPr>
          <a:xfrm>
            <a:off x="880565" y="2853376"/>
            <a:ext cx="699536" cy="1154235"/>
          </a:xfrm>
          <a:prstGeom prst="rect">
            <a:avLst/>
          </a:prstGeom>
        </p:spPr>
      </p:pic>
      <p:pic>
        <p:nvPicPr>
          <p:cNvPr id="10" name="Picture 9">
            <a:extLst>
              <a:ext uri="{FF2B5EF4-FFF2-40B4-BE49-F238E27FC236}">
                <a16:creationId xmlns:a16="http://schemas.microsoft.com/office/drawing/2014/main" id="{95807B46-020D-77A2-F30B-1771D36306D6}"/>
              </a:ext>
            </a:extLst>
          </p:cNvPr>
          <p:cNvPicPr>
            <a:picLocks noChangeAspect="1"/>
          </p:cNvPicPr>
          <p:nvPr/>
        </p:nvPicPr>
        <p:blipFill>
          <a:blip r:embed="rId2"/>
          <a:stretch>
            <a:fillRect/>
          </a:stretch>
        </p:blipFill>
        <p:spPr>
          <a:xfrm>
            <a:off x="6784597" y="2835537"/>
            <a:ext cx="699536" cy="1154235"/>
          </a:xfrm>
          <a:prstGeom prst="rect">
            <a:avLst/>
          </a:prstGeom>
        </p:spPr>
      </p:pic>
      <p:sp>
        <p:nvSpPr>
          <p:cNvPr id="2" name="Title 1">
            <a:extLst>
              <a:ext uri="{FF2B5EF4-FFF2-40B4-BE49-F238E27FC236}">
                <a16:creationId xmlns:a16="http://schemas.microsoft.com/office/drawing/2014/main" id="{7A1311D3-4022-D7D8-3015-98FE263C8B92}"/>
              </a:ext>
            </a:extLst>
          </p:cNvPr>
          <p:cNvSpPr>
            <a:spLocks noGrp="1"/>
          </p:cNvSpPr>
          <p:nvPr>
            <p:ph type="title"/>
          </p:nvPr>
        </p:nvSpPr>
        <p:spPr/>
        <p:txBody>
          <a:bodyPr/>
          <a:lstStyle/>
          <a:p>
            <a:r>
              <a:rPr lang="en-US" dirty="0"/>
              <a:t>The Evidence: Game-Based Learning Delivers</a:t>
            </a:r>
            <a:br>
              <a:rPr lang="en-US" dirty="0"/>
            </a:br>
            <a:r>
              <a:rPr lang="en-US" dirty="0"/>
              <a:t>Superior Outcomes</a:t>
            </a:r>
            <a:endParaRPr lang="en-IL" dirty="0"/>
          </a:p>
        </p:txBody>
      </p:sp>
      <p:sp>
        <p:nvSpPr>
          <p:cNvPr id="3" name="Content Placeholder 2">
            <a:extLst>
              <a:ext uri="{FF2B5EF4-FFF2-40B4-BE49-F238E27FC236}">
                <a16:creationId xmlns:a16="http://schemas.microsoft.com/office/drawing/2014/main" id="{018331F0-FB8E-EBB7-C84F-E506E7BAA4DD}"/>
              </a:ext>
            </a:extLst>
          </p:cNvPr>
          <p:cNvSpPr>
            <a:spLocks noGrp="1"/>
          </p:cNvSpPr>
          <p:nvPr>
            <p:ph idx="1"/>
          </p:nvPr>
        </p:nvSpPr>
        <p:spPr>
          <a:xfrm>
            <a:off x="838200" y="1921875"/>
            <a:ext cx="10515600" cy="1442231"/>
          </a:xfrm>
        </p:spPr>
        <p:txBody>
          <a:bodyPr>
            <a:normAutofit/>
          </a:bodyPr>
          <a:lstStyle/>
          <a:p>
            <a:pPr marL="0" indent="0">
              <a:buNone/>
            </a:pPr>
            <a:r>
              <a:rPr lang="en-US" sz="2400" dirty="0"/>
              <a:t>Recent empirical studies show that gamified environments can outperform traditional instructional methods in both cognitive learning and student motivation.</a:t>
            </a:r>
            <a:endParaRPr lang="en-IL" sz="2400" dirty="0"/>
          </a:p>
        </p:txBody>
      </p:sp>
      <p:sp>
        <p:nvSpPr>
          <p:cNvPr id="4" name="Content Placeholder 2">
            <a:extLst>
              <a:ext uri="{FF2B5EF4-FFF2-40B4-BE49-F238E27FC236}">
                <a16:creationId xmlns:a16="http://schemas.microsoft.com/office/drawing/2014/main" id="{2727623F-E6D2-05BE-F816-1F8CB02BD70F}"/>
              </a:ext>
            </a:extLst>
          </p:cNvPr>
          <p:cNvSpPr txBox="1">
            <a:spLocks/>
          </p:cNvSpPr>
          <p:nvPr/>
        </p:nvSpPr>
        <p:spPr>
          <a:xfrm>
            <a:off x="1665658" y="3527739"/>
            <a:ext cx="3657113" cy="188166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t>Boeker et al. (2013)</a:t>
            </a:r>
          </a:p>
          <a:p>
            <a:pPr marL="0" indent="0">
              <a:buNone/>
            </a:pPr>
            <a:r>
              <a:rPr lang="en-US" sz="1600" dirty="0"/>
              <a:t>A study in medical education found students using a game-based tool achieved significantly higher scores on cognitive knowledge tests and reported higher levels of fun and engagement.</a:t>
            </a:r>
            <a:endParaRPr lang="en-IL" sz="1600" dirty="0"/>
          </a:p>
        </p:txBody>
      </p:sp>
      <p:sp>
        <p:nvSpPr>
          <p:cNvPr id="6" name="Content Placeholder 2">
            <a:extLst>
              <a:ext uri="{FF2B5EF4-FFF2-40B4-BE49-F238E27FC236}">
                <a16:creationId xmlns:a16="http://schemas.microsoft.com/office/drawing/2014/main" id="{AAA25EFE-86D0-9EE2-535F-21B54A27797B}"/>
              </a:ext>
            </a:extLst>
          </p:cNvPr>
          <p:cNvSpPr txBox="1">
            <a:spLocks/>
          </p:cNvSpPr>
          <p:nvPr/>
        </p:nvSpPr>
        <p:spPr>
          <a:xfrm>
            <a:off x="6984588" y="3521569"/>
            <a:ext cx="3541754" cy="214154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err="1"/>
              <a:t>Gudadappanavar</a:t>
            </a:r>
            <a:r>
              <a:rPr lang="en-US" sz="1600" dirty="0"/>
              <a:t> et al. (2021)</a:t>
            </a:r>
          </a:p>
          <a:p>
            <a:pPr marL="0" indent="0">
              <a:buNone/>
            </a:pPr>
            <a:r>
              <a:rPr lang="en-US" sz="1600" dirty="0"/>
              <a:t>Research in pharmacology revealed gamified sessions led to a marked improvement in post-test knowledge scores and created an active, "student-centered” environment.</a:t>
            </a:r>
            <a:endParaRPr lang="en-IL" sz="1600" dirty="0"/>
          </a:p>
        </p:txBody>
      </p:sp>
      <p:sp>
        <p:nvSpPr>
          <p:cNvPr id="7" name="Content Placeholder 2">
            <a:extLst>
              <a:ext uri="{FF2B5EF4-FFF2-40B4-BE49-F238E27FC236}">
                <a16:creationId xmlns:a16="http://schemas.microsoft.com/office/drawing/2014/main" id="{B64E358A-FB18-EDEB-A5A4-30CFB566310A}"/>
              </a:ext>
            </a:extLst>
          </p:cNvPr>
          <p:cNvSpPr txBox="1">
            <a:spLocks/>
          </p:cNvSpPr>
          <p:nvPr/>
        </p:nvSpPr>
        <p:spPr>
          <a:xfrm>
            <a:off x="1069923" y="5874771"/>
            <a:ext cx="10052154" cy="9768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t>Our Position: Our work is designed as a powerful, supplementary</a:t>
            </a:r>
          </a:p>
          <a:p>
            <a:pPr marL="0" indent="0" algn="ctr">
              <a:buNone/>
            </a:pPr>
            <a:r>
              <a:rPr lang="en-US" sz="2400" dirty="0"/>
              <a:t>enhancement to the existing curriculum.</a:t>
            </a:r>
            <a:endParaRPr lang="en-IL" sz="2400" dirty="0"/>
          </a:p>
        </p:txBody>
      </p:sp>
      <p:pic>
        <p:nvPicPr>
          <p:cNvPr id="12" name="Picture 11">
            <a:extLst>
              <a:ext uri="{FF2B5EF4-FFF2-40B4-BE49-F238E27FC236}">
                <a16:creationId xmlns:a16="http://schemas.microsoft.com/office/drawing/2014/main" id="{0864F83A-51EB-9501-3261-B8826608C117}"/>
              </a:ext>
            </a:extLst>
          </p:cNvPr>
          <p:cNvPicPr>
            <a:picLocks noChangeAspect="1"/>
          </p:cNvPicPr>
          <p:nvPr/>
        </p:nvPicPr>
        <p:blipFill>
          <a:blip r:embed="rId2"/>
          <a:stretch>
            <a:fillRect/>
          </a:stretch>
        </p:blipFill>
        <p:spPr>
          <a:xfrm>
            <a:off x="6199495" y="2847206"/>
            <a:ext cx="699536" cy="1154235"/>
          </a:xfrm>
          <a:prstGeom prst="rect">
            <a:avLst/>
          </a:prstGeom>
        </p:spPr>
      </p:pic>
    </p:spTree>
    <p:extLst>
      <p:ext uri="{BB962C8B-B14F-4D97-AF65-F5344CB8AC3E}">
        <p14:creationId xmlns:p14="http://schemas.microsoft.com/office/powerpoint/2010/main" val="20386958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7A521-07FC-0881-C1F6-B1CE084800EF}"/>
              </a:ext>
            </a:extLst>
          </p:cNvPr>
          <p:cNvSpPr>
            <a:spLocks noGrp="1"/>
          </p:cNvSpPr>
          <p:nvPr>
            <p:ph type="title"/>
          </p:nvPr>
        </p:nvSpPr>
        <p:spPr>
          <a:xfrm>
            <a:off x="640080" y="325369"/>
            <a:ext cx="4368602" cy="1956841"/>
          </a:xfrm>
        </p:spPr>
        <p:txBody>
          <a:bodyPr anchor="b">
            <a:normAutofit/>
          </a:bodyPr>
          <a:lstStyle/>
          <a:p>
            <a:r>
              <a:rPr lang="en-US" sz="3800" dirty="0"/>
              <a:t>Our Solution: A Game to Make Algorithms Tangible</a:t>
            </a:r>
            <a:endParaRPr lang="en-IL" sz="3800" dirty="0"/>
          </a:p>
        </p:txBody>
      </p:sp>
      <p:sp>
        <p:nvSpPr>
          <p:cNvPr id="22"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A3AAAB7-983E-5B21-4D92-8246605C20D2}"/>
              </a:ext>
            </a:extLst>
          </p:cNvPr>
          <p:cNvSpPr>
            <a:spLocks noGrp="1"/>
          </p:cNvSpPr>
          <p:nvPr>
            <p:ph idx="1"/>
          </p:nvPr>
        </p:nvSpPr>
        <p:spPr>
          <a:xfrm>
            <a:off x="640081" y="2872898"/>
            <a:ext cx="5038738" cy="1505249"/>
          </a:xfrm>
        </p:spPr>
        <p:txBody>
          <a:bodyPr>
            <a:normAutofit/>
          </a:bodyPr>
          <a:lstStyle/>
          <a:p>
            <a:pPr marL="0" indent="0">
              <a:buNone/>
            </a:pPr>
            <a:r>
              <a:rPr lang="en-US" sz="1400" b="1" dirty="0"/>
              <a:t>Project Definition </a:t>
            </a:r>
            <a:br>
              <a:rPr lang="en-US" sz="1400" b="1" dirty="0"/>
            </a:br>
            <a:r>
              <a:rPr lang="en-US" sz="1400" dirty="0"/>
              <a:t>Dynamic Labyrinths is an innovative asymmetric multiplayer game designed to provide a unique and enjoyable approach to visualizing and learning computer science concepts, particularly pathfinding algorithms and graph theory.</a:t>
            </a:r>
          </a:p>
        </p:txBody>
      </p:sp>
      <p:pic>
        <p:nvPicPr>
          <p:cNvPr id="12" name="Picture 11" descr="Cubes connected with a red line">
            <a:extLst>
              <a:ext uri="{FF2B5EF4-FFF2-40B4-BE49-F238E27FC236}">
                <a16:creationId xmlns:a16="http://schemas.microsoft.com/office/drawing/2014/main" id="{E5025B56-BC73-398D-3CDE-9B82391FE26E}"/>
              </a:ext>
            </a:extLst>
          </p:cNvPr>
          <p:cNvPicPr>
            <a:picLocks noChangeAspect="1"/>
          </p:cNvPicPr>
          <p:nvPr/>
        </p:nvPicPr>
        <p:blipFill>
          <a:blip r:embed="rId2"/>
          <a:srcRect l="17098" r="5667" b="-1"/>
          <a:stretch>
            <a:fillRect/>
          </a:stretch>
        </p:blipFill>
        <p:spPr>
          <a:xfrm>
            <a:off x="6513182" y="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4" name="TextBox 3">
            <a:extLst>
              <a:ext uri="{FF2B5EF4-FFF2-40B4-BE49-F238E27FC236}">
                <a16:creationId xmlns:a16="http://schemas.microsoft.com/office/drawing/2014/main" id="{FA32AC15-0A48-7215-91AB-1B85207462F0}"/>
              </a:ext>
            </a:extLst>
          </p:cNvPr>
          <p:cNvSpPr txBox="1"/>
          <p:nvPr/>
        </p:nvSpPr>
        <p:spPr>
          <a:xfrm>
            <a:off x="632764" y="4378147"/>
            <a:ext cx="5038737" cy="1384995"/>
          </a:xfrm>
          <a:prstGeom prst="rect">
            <a:avLst/>
          </a:prstGeom>
          <a:noFill/>
        </p:spPr>
        <p:txBody>
          <a:bodyPr wrap="square" rtlCol="0">
            <a:spAutoFit/>
          </a:bodyPr>
          <a:lstStyle/>
          <a:p>
            <a:r>
              <a:rPr lang="en-US" sz="1400" b="1" dirty="0"/>
              <a:t>Central Idea</a:t>
            </a:r>
          </a:p>
          <a:p>
            <a:r>
              <a:rPr lang="en-US" sz="1400" dirty="0"/>
              <a:t>By immersing players in a competitive 3D environment where the map itself is a variable, the game brings algorithmic logic to life. Players don't just analyze a graph on paper; they "feel" how map complexity impacts navigation.</a:t>
            </a:r>
            <a:endParaRPr lang="en-IL" sz="1400" dirty="0"/>
          </a:p>
          <a:p>
            <a:endParaRPr lang="en-IL" sz="1400" dirty="0"/>
          </a:p>
        </p:txBody>
      </p:sp>
    </p:spTree>
    <p:extLst>
      <p:ext uri="{BB962C8B-B14F-4D97-AF65-F5344CB8AC3E}">
        <p14:creationId xmlns:p14="http://schemas.microsoft.com/office/powerpoint/2010/main" val="38926687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09AE7471-4293-7D3F-EB09-C54C6BA88CED}"/>
              </a:ext>
            </a:extLst>
          </p:cNvPr>
          <p:cNvPicPr>
            <a:picLocks noChangeAspect="1"/>
          </p:cNvPicPr>
          <p:nvPr/>
        </p:nvPicPr>
        <p:blipFill>
          <a:blip r:embed="rId2"/>
          <a:srcRect l="7901" r="9616" b="1"/>
          <a:stretch>
            <a:fillRect/>
          </a:stretch>
        </p:blipFill>
        <p:spPr>
          <a:xfrm>
            <a:off x="1" y="10"/>
            <a:ext cx="9669642" cy="6857990"/>
          </a:xfrm>
          <a:prstGeom prst="rect">
            <a:avLst/>
          </a:prstGeom>
        </p:spPr>
      </p:pic>
      <p:sp>
        <p:nvSpPr>
          <p:cNvPr id="11" name="Rectangle 10">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125019"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CF2E4F1-160A-68EE-72CB-5751339613FF}"/>
              </a:ext>
            </a:extLst>
          </p:cNvPr>
          <p:cNvSpPr>
            <a:spLocks noGrp="1"/>
          </p:cNvSpPr>
          <p:nvPr>
            <p:ph type="title"/>
          </p:nvPr>
        </p:nvSpPr>
        <p:spPr>
          <a:xfrm>
            <a:off x="7531610" y="365125"/>
            <a:ext cx="3822189" cy="1899912"/>
          </a:xfrm>
        </p:spPr>
        <p:txBody>
          <a:bodyPr>
            <a:normAutofit/>
          </a:bodyPr>
          <a:lstStyle/>
          <a:p>
            <a:r>
              <a:rPr lang="en-US" sz="4000" dirty="0"/>
              <a:t>Two Roles, One Dynamic Battlefield</a:t>
            </a:r>
            <a:endParaRPr lang="en-IL" sz="4000" dirty="0"/>
          </a:p>
        </p:txBody>
      </p:sp>
      <p:sp>
        <p:nvSpPr>
          <p:cNvPr id="3" name="Content Placeholder 2">
            <a:extLst>
              <a:ext uri="{FF2B5EF4-FFF2-40B4-BE49-F238E27FC236}">
                <a16:creationId xmlns:a16="http://schemas.microsoft.com/office/drawing/2014/main" id="{709C2F0D-9463-1A69-21E2-7BDBE9793087}"/>
              </a:ext>
            </a:extLst>
          </p:cNvPr>
          <p:cNvSpPr>
            <a:spLocks noGrp="1"/>
          </p:cNvSpPr>
          <p:nvPr>
            <p:ph idx="1"/>
          </p:nvPr>
        </p:nvSpPr>
        <p:spPr>
          <a:xfrm>
            <a:off x="7531610" y="2434201"/>
            <a:ext cx="3822189" cy="3742762"/>
          </a:xfrm>
        </p:spPr>
        <p:txBody>
          <a:bodyPr>
            <a:normAutofit/>
          </a:bodyPr>
          <a:lstStyle/>
          <a:p>
            <a:pPr marL="0" indent="0">
              <a:buNone/>
            </a:pPr>
            <a:r>
              <a:rPr lang="en-US" sz="2000" b="1" dirty="0"/>
              <a:t>The Collector (PC Player)</a:t>
            </a:r>
          </a:p>
          <a:p>
            <a:r>
              <a:rPr lang="en-US" sz="2000" dirty="0"/>
              <a:t>Objective: Navigate a complex 3D maze to collect puzzle pieces.</a:t>
            </a:r>
          </a:p>
          <a:p>
            <a:r>
              <a:rPr lang="en-US" sz="2000" dirty="0"/>
              <a:t>Challenge: Real-time navigation, obstacle avoidance, and making quick decisions to evade autonomous guard bots.</a:t>
            </a:r>
            <a:endParaRPr lang="en-IL" sz="2000" dirty="0"/>
          </a:p>
        </p:txBody>
      </p:sp>
    </p:spTree>
    <p:extLst>
      <p:ext uri="{BB962C8B-B14F-4D97-AF65-F5344CB8AC3E}">
        <p14:creationId xmlns:p14="http://schemas.microsoft.com/office/powerpoint/2010/main" val="17258198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A22E25-657D-898C-5DED-AC08D67BB495}"/>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9"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1157CDB5-0185-FEA8-2F64-2794608A8C7A}"/>
              </a:ext>
            </a:extLst>
          </p:cNvPr>
          <p:cNvPicPr>
            <a:picLocks noChangeAspect="1"/>
          </p:cNvPicPr>
          <p:nvPr/>
        </p:nvPicPr>
        <p:blipFill>
          <a:blip r:embed="rId3"/>
          <a:srcRect l="16707" r="1160" b="-1"/>
          <a:stretch>
            <a:fillRect/>
          </a:stretch>
        </p:blipFill>
        <p:spPr>
          <a:xfrm>
            <a:off x="2522356" y="10"/>
            <a:ext cx="9669642" cy="6857990"/>
          </a:xfrm>
          <a:prstGeom prst="rect">
            <a:avLst/>
          </a:prstGeom>
        </p:spPr>
      </p:pic>
      <p:sp>
        <p:nvSpPr>
          <p:cNvPr id="13" name="Rectangle 12">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7390263"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6DCCDD55-6A9F-E097-8C7E-110683B5184F}"/>
              </a:ext>
            </a:extLst>
          </p:cNvPr>
          <p:cNvSpPr>
            <a:spLocks noGrp="1"/>
          </p:cNvSpPr>
          <p:nvPr>
            <p:ph type="title"/>
          </p:nvPr>
        </p:nvSpPr>
        <p:spPr>
          <a:xfrm>
            <a:off x="838199" y="4811619"/>
            <a:ext cx="5472954" cy="1899912"/>
          </a:xfrm>
        </p:spPr>
        <p:txBody>
          <a:bodyPr>
            <a:normAutofit/>
          </a:bodyPr>
          <a:lstStyle/>
          <a:p>
            <a:r>
              <a:rPr lang="en-US" sz="2000" b="1" dirty="0"/>
              <a:t>Outcome</a:t>
            </a:r>
            <a:r>
              <a:rPr lang="en-US" sz="2000" dirty="0"/>
              <a:t>: A tense, constantly shifting landscape where strategy and adaptation are key.</a:t>
            </a:r>
            <a:endParaRPr lang="en-IL" sz="2000" dirty="0"/>
          </a:p>
        </p:txBody>
      </p:sp>
      <p:sp>
        <p:nvSpPr>
          <p:cNvPr id="3" name="Content Placeholder 2">
            <a:extLst>
              <a:ext uri="{FF2B5EF4-FFF2-40B4-BE49-F238E27FC236}">
                <a16:creationId xmlns:a16="http://schemas.microsoft.com/office/drawing/2014/main" id="{81FCC663-01B5-855E-85C3-5F14CF9B8267}"/>
              </a:ext>
            </a:extLst>
          </p:cNvPr>
          <p:cNvSpPr>
            <a:spLocks noGrp="1"/>
          </p:cNvSpPr>
          <p:nvPr>
            <p:ph idx="1"/>
          </p:nvPr>
        </p:nvSpPr>
        <p:spPr>
          <a:xfrm>
            <a:off x="838198" y="534429"/>
            <a:ext cx="3822189" cy="3742762"/>
          </a:xfrm>
        </p:spPr>
        <p:txBody>
          <a:bodyPr>
            <a:normAutofit/>
          </a:bodyPr>
          <a:lstStyle/>
          <a:p>
            <a:pPr marL="0" indent="0">
              <a:buNone/>
            </a:pPr>
            <a:r>
              <a:rPr lang="en-US" sz="2000" b="1" dirty="0"/>
              <a:t>The Strategist (Mobile Player)</a:t>
            </a:r>
          </a:p>
          <a:p>
            <a:r>
              <a:rPr lang="en-US" sz="2000" dirty="0"/>
              <a:t>Objective: Dynamically alter the map's topology in real-time.</a:t>
            </a:r>
          </a:p>
          <a:p>
            <a:r>
              <a:rPr lang="en-US" sz="2000" dirty="0"/>
              <a:t>Challenge: Strategically place walls and obstacles to assist the guard bots and oppose the Collector.</a:t>
            </a:r>
            <a:endParaRPr lang="en-IL" sz="2000" dirty="0"/>
          </a:p>
        </p:txBody>
      </p:sp>
    </p:spTree>
    <p:extLst>
      <p:ext uri="{BB962C8B-B14F-4D97-AF65-F5344CB8AC3E}">
        <p14:creationId xmlns:p14="http://schemas.microsoft.com/office/powerpoint/2010/main" val="792668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4C94E8-C2B5-4C76-9D5B-B3C4A31A1CB8}"/>
              </a:ext>
            </a:extLst>
          </p:cNvPr>
          <p:cNvSpPr>
            <a:spLocks noGrp="1"/>
          </p:cNvSpPr>
          <p:nvPr>
            <p:ph type="title"/>
          </p:nvPr>
        </p:nvSpPr>
        <p:spPr/>
        <p:txBody>
          <a:bodyPr/>
          <a:lstStyle/>
          <a:p>
            <a:r>
              <a:rPr lang="en-US" dirty="0"/>
              <a:t>The Educational Engine: A Post-Round Algorithmic Analysis</a:t>
            </a:r>
            <a:endParaRPr lang="en-IL" dirty="0"/>
          </a:p>
        </p:txBody>
      </p:sp>
      <p:sp>
        <p:nvSpPr>
          <p:cNvPr id="3" name="Content Placeholder 2">
            <a:extLst>
              <a:ext uri="{FF2B5EF4-FFF2-40B4-BE49-F238E27FC236}">
                <a16:creationId xmlns:a16="http://schemas.microsoft.com/office/drawing/2014/main" id="{32789804-2A7D-C41C-E0B1-F155FB80C24C}"/>
              </a:ext>
            </a:extLst>
          </p:cNvPr>
          <p:cNvSpPr>
            <a:spLocks noGrp="1"/>
          </p:cNvSpPr>
          <p:nvPr>
            <p:ph idx="1"/>
          </p:nvPr>
        </p:nvSpPr>
        <p:spPr>
          <a:xfrm>
            <a:off x="838200" y="1825625"/>
            <a:ext cx="10515600" cy="1037496"/>
          </a:xfrm>
        </p:spPr>
        <p:txBody>
          <a:bodyPr>
            <a:normAutofit/>
          </a:bodyPr>
          <a:lstStyle/>
          <a:p>
            <a:pPr marL="0" indent="0">
              <a:buNone/>
            </a:pPr>
            <a:r>
              <a:rPr lang="en-US" sz="2000" dirty="0"/>
              <a:t>The project's key contribution is an educational feedback loop that connects gameplay directly to algorithmic theory.</a:t>
            </a:r>
            <a:endParaRPr lang="en-IL" sz="2000" dirty="0"/>
          </a:p>
        </p:txBody>
      </p:sp>
      <p:sp>
        <p:nvSpPr>
          <p:cNvPr id="4" name="TextBox 3">
            <a:extLst>
              <a:ext uri="{FF2B5EF4-FFF2-40B4-BE49-F238E27FC236}">
                <a16:creationId xmlns:a16="http://schemas.microsoft.com/office/drawing/2014/main" id="{DE9FAC0E-B5DF-AE17-21D8-06586E5F68F7}"/>
              </a:ext>
            </a:extLst>
          </p:cNvPr>
          <p:cNvSpPr txBox="1"/>
          <p:nvPr/>
        </p:nvSpPr>
        <p:spPr>
          <a:xfrm>
            <a:off x="1010194" y="2699657"/>
            <a:ext cx="3149601" cy="1384995"/>
          </a:xfrm>
          <a:prstGeom prst="rect">
            <a:avLst/>
          </a:prstGeom>
          <a:noFill/>
        </p:spPr>
        <p:txBody>
          <a:bodyPr wrap="square" rtlCol="0">
            <a:spAutoFit/>
          </a:bodyPr>
          <a:lstStyle/>
          <a:p>
            <a:r>
              <a:rPr lang="en-US" sz="1400" dirty="0"/>
              <a:t>4. Visualize</a:t>
            </a:r>
          </a:p>
          <a:p>
            <a:r>
              <a:rPr lang="en-US" sz="1400" dirty="0"/>
              <a:t>A replay mode provides real-time decision-making suggestions based on the calculated optimal route, allowing players to see the algorithm in action.</a:t>
            </a:r>
            <a:endParaRPr lang="en-IL" sz="1400" dirty="0"/>
          </a:p>
        </p:txBody>
      </p:sp>
      <p:sp>
        <p:nvSpPr>
          <p:cNvPr id="5" name="TextBox 4">
            <a:extLst>
              <a:ext uri="{FF2B5EF4-FFF2-40B4-BE49-F238E27FC236}">
                <a16:creationId xmlns:a16="http://schemas.microsoft.com/office/drawing/2014/main" id="{3217A15C-D700-B7BC-3D8D-E4A0B6B4B0A3}"/>
              </a:ext>
            </a:extLst>
          </p:cNvPr>
          <p:cNvSpPr txBox="1"/>
          <p:nvPr/>
        </p:nvSpPr>
        <p:spPr>
          <a:xfrm>
            <a:off x="8032205" y="4758307"/>
            <a:ext cx="3149600" cy="954107"/>
          </a:xfrm>
          <a:prstGeom prst="rect">
            <a:avLst/>
          </a:prstGeom>
          <a:noFill/>
        </p:spPr>
        <p:txBody>
          <a:bodyPr wrap="square" rtlCol="0">
            <a:spAutoFit/>
          </a:bodyPr>
          <a:lstStyle/>
          <a:p>
            <a:r>
              <a:rPr lang="en-US" sz="1400" dirty="0"/>
              <a:t>2. Calculate</a:t>
            </a:r>
          </a:p>
          <a:p>
            <a:r>
              <a:rPr lang="en-US" sz="1400" dirty="0"/>
              <a:t>A suite of different pathfinding algorithms calculates the theoretically optimal path from start to finish.</a:t>
            </a:r>
            <a:endParaRPr lang="en-IL" sz="1400" dirty="0"/>
          </a:p>
        </p:txBody>
      </p:sp>
      <p:sp>
        <p:nvSpPr>
          <p:cNvPr id="6" name="TextBox 5">
            <a:extLst>
              <a:ext uri="{FF2B5EF4-FFF2-40B4-BE49-F238E27FC236}">
                <a16:creationId xmlns:a16="http://schemas.microsoft.com/office/drawing/2014/main" id="{1533250F-D506-2A58-A011-78555E7C6A1E}"/>
              </a:ext>
            </a:extLst>
          </p:cNvPr>
          <p:cNvSpPr txBox="1"/>
          <p:nvPr/>
        </p:nvSpPr>
        <p:spPr>
          <a:xfrm>
            <a:off x="1010194" y="4758307"/>
            <a:ext cx="3388386" cy="1169551"/>
          </a:xfrm>
          <a:prstGeom prst="rect">
            <a:avLst/>
          </a:prstGeom>
          <a:noFill/>
        </p:spPr>
        <p:txBody>
          <a:bodyPr wrap="square" rtlCol="0">
            <a:spAutoFit/>
          </a:bodyPr>
          <a:lstStyle/>
          <a:p>
            <a:r>
              <a:rPr lang="en-US" sz="1400" dirty="0"/>
              <a:t>3. Inform</a:t>
            </a:r>
          </a:p>
          <a:p>
            <a:r>
              <a:rPr lang="en-US" sz="1400" dirty="0"/>
              <a:t>The system presents the player with the specific algorithm that achieved the best performance for that map, along with educational context.</a:t>
            </a:r>
            <a:endParaRPr lang="en-IL" sz="1400" dirty="0"/>
          </a:p>
        </p:txBody>
      </p:sp>
      <p:sp>
        <p:nvSpPr>
          <p:cNvPr id="7" name="TextBox 6">
            <a:extLst>
              <a:ext uri="{FF2B5EF4-FFF2-40B4-BE49-F238E27FC236}">
                <a16:creationId xmlns:a16="http://schemas.microsoft.com/office/drawing/2014/main" id="{A53CC32D-6632-F439-C47D-1EA748E16FCB}"/>
              </a:ext>
            </a:extLst>
          </p:cNvPr>
          <p:cNvSpPr txBox="1"/>
          <p:nvPr/>
        </p:nvSpPr>
        <p:spPr>
          <a:xfrm>
            <a:off x="8032204" y="2699657"/>
            <a:ext cx="3149599" cy="954107"/>
          </a:xfrm>
          <a:prstGeom prst="rect">
            <a:avLst/>
          </a:prstGeom>
          <a:noFill/>
        </p:spPr>
        <p:txBody>
          <a:bodyPr wrap="square" rtlCol="0">
            <a:spAutoFit/>
          </a:bodyPr>
          <a:lstStyle/>
          <a:p>
            <a:r>
              <a:rPr lang="en-US" sz="1400" dirty="0"/>
              <a:t>1. Analyze</a:t>
            </a:r>
          </a:p>
          <a:p>
            <a:r>
              <a:rPr lang="en-US" sz="1400" dirty="0"/>
              <a:t>After a round, the system</a:t>
            </a:r>
          </a:p>
          <a:p>
            <a:r>
              <a:rPr lang="en-US" sz="1400" dirty="0"/>
              <a:t>analyzes the final, unique map</a:t>
            </a:r>
          </a:p>
          <a:p>
            <a:r>
              <a:rPr lang="en-US" sz="1400" dirty="0"/>
              <a:t>configuration.</a:t>
            </a:r>
            <a:endParaRPr lang="en-IL" sz="1400" dirty="0"/>
          </a:p>
        </p:txBody>
      </p:sp>
      <p:pic>
        <p:nvPicPr>
          <p:cNvPr id="10" name="Picture 9">
            <a:extLst>
              <a:ext uri="{FF2B5EF4-FFF2-40B4-BE49-F238E27FC236}">
                <a16:creationId xmlns:a16="http://schemas.microsoft.com/office/drawing/2014/main" id="{014CDEC4-4133-A616-7E82-382140607285}"/>
              </a:ext>
            </a:extLst>
          </p:cNvPr>
          <p:cNvPicPr>
            <a:picLocks noChangeAspect="1"/>
          </p:cNvPicPr>
          <p:nvPr/>
        </p:nvPicPr>
        <p:blipFill>
          <a:blip r:embed="rId2"/>
          <a:stretch>
            <a:fillRect/>
          </a:stretch>
        </p:blipFill>
        <p:spPr>
          <a:xfrm>
            <a:off x="4521200" y="2522552"/>
            <a:ext cx="3149600" cy="3124200"/>
          </a:xfrm>
          <a:prstGeom prst="rect">
            <a:avLst/>
          </a:prstGeom>
        </p:spPr>
      </p:pic>
    </p:spTree>
    <p:extLst>
      <p:ext uri="{BB962C8B-B14F-4D97-AF65-F5344CB8AC3E}">
        <p14:creationId xmlns:p14="http://schemas.microsoft.com/office/powerpoint/2010/main" val="29742758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A9B1CE-E19B-6218-71DA-E21BA04010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C8695B-8803-F100-4EC4-257B70BA6127}"/>
              </a:ext>
            </a:extLst>
          </p:cNvPr>
          <p:cNvSpPr>
            <a:spLocks noGrp="1"/>
          </p:cNvSpPr>
          <p:nvPr>
            <p:ph type="title"/>
          </p:nvPr>
        </p:nvSpPr>
        <p:spPr/>
        <p:txBody>
          <a:bodyPr/>
          <a:lstStyle/>
          <a:p>
            <a:r>
              <a:rPr lang="en-US" dirty="0"/>
              <a:t>The Technology Powering the Experience</a:t>
            </a:r>
            <a:endParaRPr lang="en-IL" dirty="0"/>
          </a:p>
        </p:txBody>
      </p:sp>
      <p:sp>
        <p:nvSpPr>
          <p:cNvPr id="3" name="Content Placeholder 2">
            <a:extLst>
              <a:ext uri="{FF2B5EF4-FFF2-40B4-BE49-F238E27FC236}">
                <a16:creationId xmlns:a16="http://schemas.microsoft.com/office/drawing/2014/main" id="{A03084DC-FF92-9C35-48A8-1A16191E9B09}"/>
              </a:ext>
            </a:extLst>
          </p:cNvPr>
          <p:cNvSpPr>
            <a:spLocks noGrp="1"/>
          </p:cNvSpPr>
          <p:nvPr>
            <p:ph idx="1"/>
          </p:nvPr>
        </p:nvSpPr>
        <p:spPr>
          <a:xfrm>
            <a:off x="838200" y="3843610"/>
            <a:ext cx="3298634" cy="1958099"/>
          </a:xfrm>
        </p:spPr>
        <p:txBody>
          <a:bodyPr>
            <a:normAutofit fontScale="85000" lnSpcReduction="20000"/>
          </a:bodyPr>
          <a:lstStyle/>
          <a:p>
            <a:pPr marL="0" indent="0" algn="ctr">
              <a:buNone/>
            </a:pPr>
            <a:r>
              <a:rPr lang="en-US" b="1" dirty="0"/>
              <a:t>Unity Engine</a:t>
            </a:r>
          </a:p>
          <a:p>
            <a:pPr marL="0" indent="0" algn="ctr">
              <a:buNone/>
            </a:pPr>
            <a:r>
              <a:rPr lang="en-US" sz="2000" dirty="0"/>
              <a:t>The cross-platform</a:t>
            </a:r>
          </a:p>
          <a:p>
            <a:pPr marL="0" indent="0" algn="ctr">
              <a:buNone/>
            </a:pPr>
            <a:r>
              <a:rPr lang="en-US" sz="2000" dirty="0"/>
              <a:t>foundation for creating the</a:t>
            </a:r>
          </a:p>
          <a:p>
            <a:pPr marL="0" indent="0" algn="ctr">
              <a:buNone/>
            </a:pPr>
            <a:r>
              <a:rPr lang="en-US" sz="2000" dirty="0"/>
              <a:t>interactive 3D content,</a:t>
            </a:r>
          </a:p>
          <a:p>
            <a:pPr marL="0" indent="0" algn="ctr">
              <a:buNone/>
            </a:pPr>
            <a:r>
              <a:rPr lang="en-US" sz="2000" dirty="0"/>
              <a:t>using C# for implementing</a:t>
            </a:r>
          </a:p>
          <a:p>
            <a:pPr marL="0" indent="0" algn="ctr">
              <a:buNone/>
            </a:pPr>
            <a:r>
              <a:rPr lang="en-US" sz="2000" dirty="0"/>
              <a:t>complex game logic.</a:t>
            </a:r>
            <a:endParaRPr lang="en-IL" sz="2000" dirty="0"/>
          </a:p>
        </p:txBody>
      </p:sp>
      <p:sp>
        <p:nvSpPr>
          <p:cNvPr id="9" name="Content Placeholder 2">
            <a:extLst>
              <a:ext uri="{FF2B5EF4-FFF2-40B4-BE49-F238E27FC236}">
                <a16:creationId xmlns:a16="http://schemas.microsoft.com/office/drawing/2014/main" id="{51ABBEDF-6C53-A876-13FC-5EEB86BF473E}"/>
              </a:ext>
            </a:extLst>
          </p:cNvPr>
          <p:cNvSpPr txBox="1">
            <a:spLocks/>
          </p:cNvSpPr>
          <p:nvPr/>
        </p:nvSpPr>
        <p:spPr>
          <a:xfrm>
            <a:off x="4446683" y="3844425"/>
            <a:ext cx="3298633" cy="195809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000" b="1" dirty="0"/>
              <a:t>Cross-Platform Multiplayer</a:t>
            </a:r>
          </a:p>
          <a:p>
            <a:pPr marL="0" indent="0" algn="ctr">
              <a:buNone/>
            </a:pPr>
            <a:r>
              <a:rPr lang="en-US" sz="1700" dirty="0"/>
              <a:t>Built with Unity's </a:t>
            </a:r>
            <a:r>
              <a:rPr lang="en-US" sz="1700" dirty="0" err="1"/>
              <a:t>Netcode</a:t>
            </a:r>
            <a:r>
              <a:rPr lang="en-US" sz="1700" dirty="0"/>
              <a:t> for </a:t>
            </a:r>
            <a:r>
              <a:rPr lang="en-US" sz="1700" dirty="0" err="1"/>
              <a:t>GameObjects</a:t>
            </a:r>
            <a:r>
              <a:rPr lang="en-US" sz="1700" dirty="0"/>
              <a:t> (NGO) and Relay service to enable seamless connectivity between PC (Host) and mobile (Client).</a:t>
            </a:r>
            <a:endParaRPr lang="en-IL" sz="1700" dirty="0"/>
          </a:p>
        </p:txBody>
      </p:sp>
      <p:sp>
        <p:nvSpPr>
          <p:cNvPr id="10" name="Content Placeholder 2">
            <a:extLst>
              <a:ext uri="{FF2B5EF4-FFF2-40B4-BE49-F238E27FC236}">
                <a16:creationId xmlns:a16="http://schemas.microsoft.com/office/drawing/2014/main" id="{A7A9A780-0955-E04A-6190-605C34387FE9}"/>
              </a:ext>
            </a:extLst>
          </p:cNvPr>
          <p:cNvSpPr txBox="1">
            <a:spLocks/>
          </p:cNvSpPr>
          <p:nvPr/>
        </p:nvSpPr>
        <p:spPr>
          <a:xfrm>
            <a:off x="8055165" y="3843610"/>
            <a:ext cx="3043179" cy="195809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000" b="1" dirty="0"/>
              <a:t>Unity ML-Agents</a:t>
            </a:r>
          </a:p>
          <a:p>
            <a:pPr marL="0" indent="0" algn="ctr">
              <a:buNone/>
            </a:pPr>
            <a:r>
              <a:rPr lang="en-US" sz="1700" dirty="0"/>
              <a:t>An open-source toolkit used to transform the Unity environment in to a simulation for training intelligent agents via Reinforcement Learning.</a:t>
            </a:r>
            <a:endParaRPr lang="en-IL" sz="1700" dirty="0"/>
          </a:p>
        </p:txBody>
      </p:sp>
      <p:pic>
        <p:nvPicPr>
          <p:cNvPr id="15" name="Picture 14">
            <a:extLst>
              <a:ext uri="{FF2B5EF4-FFF2-40B4-BE49-F238E27FC236}">
                <a16:creationId xmlns:a16="http://schemas.microsoft.com/office/drawing/2014/main" id="{4B544DB7-C8A5-4842-7474-35DE7B8F9AAD}"/>
              </a:ext>
            </a:extLst>
          </p:cNvPr>
          <p:cNvPicPr>
            <a:picLocks noChangeAspect="1"/>
          </p:cNvPicPr>
          <p:nvPr/>
        </p:nvPicPr>
        <p:blipFill>
          <a:blip r:embed="rId2"/>
          <a:stretch>
            <a:fillRect/>
          </a:stretch>
        </p:blipFill>
        <p:spPr>
          <a:xfrm>
            <a:off x="8890669" y="1932404"/>
            <a:ext cx="1372169" cy="1490459"/>
          </a:xfrm>
          <a:prstGeom prst="rect">
            <a:avLst/>
          </a:prstGeom>
          <a:ln>
            <a:noFill/>
          </a:ln>
        </p:spPr>
      </p:pic>
      <p:pic>
        <p:nvPicPr>
          <p:cNvPr id="17" name="Picture 16">
            <a:extLst>
              <a:ext uri="{FF2B5EF4-FFF2-40B4-BE49-F238E27FC236}">
                <a16:creationId xmlns:a16="http://schemas.microsoft.com/office/drawing/2014/main" id="{3AC8FE8D-0E52-7D0B-0CE4-BAFFD3D85CAA}"/>
              </a:ext>
            </a:extLst>
          </p:cNvPr>
          <p:cNvPicPr>
            <a:picLocks noChangeAspect="1"/>
          </p:cNvPicPr>
          <p:nvPr/>
        </p:nvPicPr>
        <p:blipFill>
          <a:blip r:embed="rId3"/>
          <a:stretch>
            <a:fillRect/>
          </a:stretch>
        </p:blipFill>
        <p:spPr>
          <a:xfrm>
            <a:off x="5257470" y="1936010"/>
            <a:ext cx="1677058" cy="1492990"/>
          </a:xfrm>
          <a:prstGeom prst="rect">
            <a:avLst/>
          </a:prstGeom>
          <a:ln>
            <a:noFill/>
          </a:ln>
        </p:spPr>
      </p:pic>
      <p:pic>
        <p:nvPicPr>
          <p:cNvPr id="19" name="Picture 18">
            <a:extLst>
              <a:ext uri="{FF2B5EF4-FFF2-40B4-BE49-F238E27FC236}">
                <a16:creationId xmlns:a16="http://schemas.microsoft.com/office/drawing/2014/main" id="{515336DA-4D4D-7A09-D0AE-2041DAF83B70}"/>
              </a:ext>
            </a:extLst>
          </p:cNvPr>
          <p:cNvPicPr>
            <a:picLocks noChangeAspect="1"/>
          </p:cNvPicPr>
          <p:nvPr/>
        </p:nvPicPr>
        <p:blipFill>
          <a:blip r:embed="rId4"/>
          <a:stretch>
            <a:fillRect/>
          </a:stretch>
        </p:blipFill>
        <p:spPr>
          <a:xfrm>
            <a:off x="1690150" y="1932404"/>
            <a:ext cx="1594733" cy="1496596"/>
          </a:xfrm>
          <a:prstGeom prst="rect">
            <a:avLst/>
          </a:prstGeom>
          <a:ln>
            <a:noFill/>
          </a:ln>
        </p:spPr>
      </p:pic>
    </p:spTree>
    <p:extLst>
      <p:ext uri="{BB962C8B-B14F-4D97-AF65-F5344CB8AC3E}">
        <p14:creationId xmlns:p14="http://schemas.microsoft.com/office/powerpoint/2010/main" val="9015717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8194F-743E-9D58-812A-BD5071CCC64D}"/>
              </a:ext>
            </a:extLst>
          </p:cNvPr>
          <p:cNvSpPr>
            <a:spLocks noGrp="1"/>
          </p:cNvSpPr>
          <p:nvPr>
            <p:ph type="title"/>
          </p:nvPr>
        </p:nvSpPr>
        <p:spPr/>
        <p:txBody>
          <a:bodyPr>
            <a:normAutofit/>
          </a:bodyPr>
          <a:lstStyle/>
          <a:p>
            <a:r>
              <a:rPr lang="en-US" sz="3600" dirty="0"/>
              <a:t>Training an Adaptive Opponent with Reinforcement Learning</a:t>
            </a:r>
            <a:endParaRPr lang="en-IL" sz="3600" dirty="0"/>
          </a:p>
        </p:txBody>
      </p:sp>
      <p:sp>
        <p:nvSpPr>
          <p:cNvPr id="3" name="Content Placeholder 2">
            <a:extLst>
              <a:ext uri="{FF2B5EF4-FFF2-40B4-BE49-F238E27FC236}">
                <a16:creationId xmlns:a16="http://schemas.microsoft.com/office/drawing/2014/main" id="{BE2BDF35-1BD9-956E-DA6D-4428C6268197}"/>
              </a:ext>
            </a:extLst>
          </p:cNvPr>
          <p:cNvSpPr>
            <a:spLocks noGrp="1"/>
          </p:cNvSpPr>
          <p:nvPr>
            <p:ph idx="1"/>
          </p:nvPr>
        </p:nvSpPr>
        <p:spPr>
          <a:xfrm>
            <a:off x="838200" y="1825625"/>
            <a:ext cx="10515600" cy="1761637"/>
          </a:xfrm>
        </p:spPr>
        <p:txBody>
          <a:bodyPr/>
          <a:lstStyle/>
          <a:p>
            <a:pPr marL="0" indent="0">
              <a:buNone/>
            </a:pPr>
            <a:r>
              <a:rPr lang="en-US" dirty="0"/>
              <a:t>What is Reinforcement Learning (RL)?</a:t>
            </a:r>
          </a:p>
          <a:p>
            <a:pPr marL="0" indent="0">
              <a:buNone/>
            </a:pPr>
            <a:r>
              <a:rPr lang="en-US" sz="2000" dirty="0"/>
              <a:t>A specialized area of ML where an "agent" learns to make decisions through trial and error. The agent interacts with an environment, receiving "rewards" for success or "penalties" for failure, allowing it to discover the optimal strategy over time.</a:t>
            </a:r>
            <a:endParaRPr lang="en-IL" sz="2000" dirty="0"/>
          </a:p>
        </p:txBody>
      </p:sp>
      <p:sp>
        <p:nvSpPr>
          <p:cNvPr id="4" name="Content Placeholder 2">
            <a:extLst>
              <a:ext uri="{FF2B5EF4-FFF2-40B4-BE49-F238E27FC236}">
                <a16:creationId xmlns:a16="http://schemas.microsoft.com/office/drawing/2014/main" id="{54772950-16CE-8BB8-D982-8E89C883B723}"/>
              </a:ext>
            </a:extLst>
          </p:cNvPr>
          <p:cNvSpPr txBox="1">
            <a:spLocks/>
          </p:cNvSpPr>
          <p:nvPr/>
        </p:nvSpPr>
        <p:spPr>
          <a:xfrm>
            <a:off x="838200" y="3722199"/>
            <a:ext cx="10515600" cy="223933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b="1" dirty="0"/>
              <a:t>Application in Dynamic Labyrinths</a:t>
            </a:r>
          </a:p>
          <a:p>
            <a:r>
              <a:rPr lang="en-US" sz="2000" dirty="0"/>
              <a:t>We generate an ML agent that acts as an autonomous guard bot.</a:t>
            </a:r>
          </a:p>
          <a:p>
            <a:r>
              <a:rPr lang="en-US" sz="2000" dirty="0"/>
              <a:t>This agent is trained to compete against the player, learning to navigate the dynamic mazes created by the mobile player.</a:t>
            </a:r>
          </a:p>
          <a:p>
            <a:r>
              <a:rPr lang="en-US" sz="2000" dirty="0"/>
              <a:t>The result is a challenging opponent that can adapt its strategy to the changing environment without being explicitly programmed for every scenario.</a:t>
            </a:r>
            <a:endParaRPr lang="en-IL" sz="2000" dirty="0"/>
          </a:p>
        </p:txBody>
      </p:sp>
    </p:spTree>
    <p:extLst>
      <p:ext uri="{BB962C8B-B14F-4D97-AF65-F5344CB8AC3E}">
        <p14:creationId xmlns:p14="http://schemas.microsoft.com/office/powerpoint/2010/main" val="15777009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5DCB5928-DC7D-4612-9922-441966E156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 name="Freeform: Shape 12">
            <a:extLst>
              <a:ext uri="{FF2B5EF4-FFF2-40B4-BE49-F238E27FC236}">
                <a16:creationId xmlns:a16="http://schemas.microsoft.com/office/drawing/2014/main" id="{682C1161-1736-45EC-99B7-33F3CAE9D5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59047" cy="6858000"/>
          </a:xfrm>
          <a:custGeom>
            <a:avLst/>
            <a:gdLst>
              <a:gd name="connsiteX0" fmla="*/ 0 w 4959047"/>
              <a:gd name="connsiteY0" fmla="*/ 0 h 6858000"/>
              <a:gd name="connsiteX1" fmla="*/ 4110127 w 4959047"/>
              <a:gd name="connsiteY1" fmla="*/ 0 h 6858000"/>
              <a:gd name="connsiteX2" fmla="*/ 4179024 w 4959047"/>
              <a:gd name="connsiteY2" fmla="*/ 123368 h 6858000"/>
              <a:gd name="connsiteX3" fmla="*/ 4959047 w 4959047"/>
              <a:gd name="connsiteY3" fmla="*/ 3429000 h 6858000"/>
              <a:gd name="connsiteX4" fmla="*/ 4179024 w 4959047"/>
              <a:gd name="connsiteY4" fmla="*/ 6734633 h 6858000"/>
              <a:gd name="connsiteX5" fmla="*/ 4110127 w 4959047"/>
              <a:gd name="connsiteY5" fmla="*/ 6858000 h 6858000"/>
              <a:gd name="connsiteX6" fmla="*/ 0 w 495904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59047" h="6858000">
                <a:moveTo>
                  <a:pt x="0" y="0"/>
                </a:moveTo>
                <a:lnTo>
                  <a:pt x="4110127" y="0"/>
                </a:lnTo>
                <a:lnTo>
                  <a:pt x="4179024" y="123368"/>
                </a:lnTo>
                <a:cubicBezTo>
                  <a:pt x="4668929" y="1045156"/>
                  <a:pt x="4959047" y="2189404"/>
                  <a:pt x="4959047" y="3429000"/>
                </a:cubicBezTo>
                <a:cubicBezTo>
                  <a:pt x="4959047" y="4668597"/>
                  <a:pt x="4668929" y="5812845"/>
                  <a:pt x="4179024" y="6734633"/>
                </a:cubicBezTo>
                <a:lnTo>
                  <a:pt x="4110127" y="6858000"/>
                </a:lnTo>
                <a:lnTo>
                  <a:pt x="0" y="6858000"/>
                </a:lnTo>
                <a:close/>
              </a:path>
            </a:pathLst>
          </a:custGeom>
          <a:ln w="9525">
            <a:solidFill>
              <a:srgbClr val="E6E6E6"/>
            </a:solidFill>
          </a:ln>
          <a:effectLst>
            <a:outerShdw blurRad="762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5" name="Freeform: Shape 14">
            <a:extLst>
              <a:ext uri="{FF2B5EF4-FFF2-40B4-BE49-F238E27FC236}">
                <a16:creationId xmlns:a16="http://schemas.microsoft.com/office/drawing/2014/main" id="{84D4DDB8-B68F-45B0-9F62-C4279996F6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48887" cy="6858000"/>
          </a:xfrm>
          <a:custGeom>
            <a:avLst/>
            <a:gdLst>
              <a:gd name="connsiteX0" fmla="*/ 0 w 4948887"/>
              <a:gd name="connsiteY0" fmla="*/ 0 h 6858000"/>
              <a:gd name="connsiteX1" fmla="*/ 4099967 w 4948887"/>
              <a:gd name="connsiteY1" fmla="*/ 0 h 6858000"/>
              <a:gd name="connsiteX2" fmla="*/ 4168864 w 4948887"/>
              <a:gd name="connsiteY2" fmla="*/ 123368 h 6858000"/>
              <a:gd name="connsiteX3" fmla="*/ 4948887 w 4948887"/>
              <a:gd name="connsiteY3" fmla="*/ 3429000 h 6858000"/>
              <a:gd name="connsiteX4" fmla="*/ 4168864 w 4948887"/>
              <a:gd name="connsiteY4" fmla="*/ 6734633 h 6858000"/>
              <a:gd name="connsiteX5" fmla="*/ 4099967 w 4948887"/>
              <a:gd name="connsiteY5" fmla="*/ 6858000 h 6858000"/>
              <a:gd name="connsiteX6" fmla="*/ 0 w 494888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48887" h="6858000">
                <a:moveTo>
                  <a:pt x="0" y="0"/>
                </a:moveTo>
                <a:lnTo>
                  <a:pt x="4099967" y="0"/>
                </a:lnTo>
                <a:lnTo>
                  <a:pt x="4168864" y="123368"/>
                </a:lnTo>
                <a:cubicBezTo>
                  <a:pt x="4658769" y="1045156"/>
                  <a:pt x="4948887" y="2189404"/>
                  <a:pt x="4948887" y="3429000"/>
                </a:cubicBezTo>
                <a:cubicBezTo>
                  <a:pt x="4948887" y="4668597"/>
                  <a:pt x="4658769" y="5812845"/>
                  <a:pt x="4168864" y="6734633"/>
                </a:cubicBezTo>
                <a:lnTo>
                  <a:pt x="4099967"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D93911A-527A-2970-A3A5-6DB1FDD51573}"/>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kern="1200" dirty="0">
                <a:solidFill>
                  <a:schemeClr val="tx1"/>
                </a:solidFill>
                <a:latin typeface="+mj-lt"/>
                <a:ea typeface="+mj-ea"/>
                <a:cs typeface="+mj-cs"/>
              </a:rPr>
              <a:t>A Modular and Scalable System Architecture</a:t>
            </a:r>
          </a:p>
        </p:txBody>
      </p:sp>
      <p:sp>
        <p:nvSpPr>
          <p:cNvPr id="17" name="Rectangle 16">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6" name="Picture 5">
            <a:extLst>
              <a:ext uri="{FF2B5EF4-FFF2-40B4-BE49-F238E27FC236}">
                <a16:creationId xmlns:a16="http://schemas.microsoft.com/office/drawing/2014/main" id="{CF796AAF-1A00-CF77-904F-EE8EBB2E5CC2}"/>
              </a:ext>
            </a:extLst>
          </p:cNvPr>
          <p:cNvPicPr>
            <a:picLocks noChangeAspect="1"/>
          </p:cNvPicPr>
          <p:nvPr/>
        </p:nvPicPr>
        <p:blipFill>
          <a:blip r:embed="rId2"/>
          <a:stretch>
            <a:fillRect/>
          </a:stretch>
        </p:blipFill>
        <p:spPr>
          <a:xfrm>
            <a:off x="5414356" y="1246469"/>
            <a:ext cx="6408836" cy="4213809"/>
          </a:xfrm>
          <a:prstGeom prst="rect">
            <a:avLst/>
          </a:prstGeom>
        </p:spPr>
      </p:pic>
    </p:spTree>
    <p:extLst>
      <p:ext uri="{BB962C8B-B14F-4D97-AF65-F5344CB8AC3E}">
        <p14:creationId xmlns:p14="http://schemas.microsoft.com/office/powerpoint/2010/main" val="7579386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2AB25A-953E-A917-82AA-711379A5C920}"/>
              </a:ext>
            </a:extLst>
          </p:cNvPr>
          <p:cNvSpPr>
            <a:spLocks noGrp="1"/>
          </p:cNvSpPr>
          <p:nvPr>
            <p:ph type="title"/>
          </p:nvPr>
        </p:nvSpPr>
        <p:spPr/>
        <p:txBody>
          <a:bodyPr>
            <a:normAutofit/>
          </a:bodyPr>
          <a:lstStyle/>
          <a:p>
            <a:r>
              <a:rPr lang="en-US" sz="4000"/>
              <a:t>Defining Success: Core Functional Requirements</a:t>
            </a:r>
            <a:endParaRPr lang="en-IL" sz="4000" dirty="0"/>
          </a:p>
        </p:txBody>
      </p:sp>
      <p:sp>
        <p:nvSpPr>
          <p:cNvPr id="3" name="Content Placeholder 2">
            <a:extLst>
              <a:ext uri="{FF2B5EF4-FFF2-40B4-BE49-F238E27FC236}">
                <a16:creationId xmlns:a16="http://schemas.microsoft.com/office/drawing/2014/main" id="{71A023A1-43B3-8BB3-2187-13C380E7F051}"/>
              </a:ext>
            </a:extLst>
          </p:cNvPr>
          <p:cNvSpPr>
            <a:spLocks noGrp="1"/>
          </p:cNvSpPr>
          <p:nvPr>
            <p:ph idx="1"/>
          </p:nvPr>
        </p:nvSpPr>
        <p:spPr>
          <a:xfrm>
            <a:off x="1753102" y="1887085"/>
            <a:ext cx="9116683" cy="4154941"/>
          </a:xfrm>
        </p:spPr>
        <p:txBody>
          <a:bodyPr>
            <a:noAutofit/>
          </a:bodyPr>
          <a:lstStyle/>
          <a:p>
            <a:pPr marL="0" indent="0">
              <a:buNone/>
            </a:pPr>
            <a:r>
              <a:rPr lang="en-US" sz="1800"/>
              <a:t>Visually render the step-by-step execution of pathfinding algorithms.</a:t>
            </a:r>
            <a:br>
              <a:rPr lang="en-US" sz="1800"/>
            </a:br>
            <a:endParaRPr lang="en-US" sz="1800"/>
          </a:p>
          <a:p>
            <a:pPr marL="0" indent="0">
              <a:buNone/>
            </a:pPr>
            <a:r>
              <a:rPr lang="en-US" sz="1800"/>
              <a:t>Support cross-platform multiplayer sessions (PC Host, Mobile Client).</a:t>
            </a:r>
            <a:br>
              <a:rPr lang="en-US" sz="1800"/>
            </a:br>
            <a:endParaRPr lang="en-US" sz="1800"/>
          </a:p>
          <a:p>
            <a:pPr marL="0" indent="0">
              <a:buNone/>
            </a:pPr>
            <a:r>
              <a:rPr lang="en-US" sz="1800"/>
              <a:t>Generate a competitive Machine Learning agent.</a:t>
            </a:r>
            <a:br>
              <a:rPr lang="en-US" sz="1800"/>
            </a:br>
            <a:endParaRPr lang="en-US" sz="1800"/>
          </a:p>
          <a:p>
            <a:pPr marL="0" indent="0">
              <a:buNone/>
            </a:pPr>
            <a:r>
              <a:rPr lang="en-US" sz="1800"/>
              <a:t>Display educational information on the optimal algorithm for each map.</a:t>
            </a:r>
            <a:br>
              <a:rPr lang="en-US" sz="1800"/>
            </a:br>
            <a:endParaRPr lang="en-US" sz="1800"/>
          </a:p>
          <a:p>
            <a:pPr marL="0" indent="0">
              <a:buNone/>
            </a:pPr>
            <a:r>
              <a:rPr lang="en-US" sz="1800"/>
              <a:t>Allow the mobile player to add obstacles in real-time.</a:t>
            </a:r>
            <a:br>
              <a:rPr lang="en-US" sz="1800"/>
            </a:br>
            <a:endParaRPr lang="en-US" sz="1800"/>
          </a:p>
          <a:p>
            <a:pPr marL="0" indent="0">
              <a:buNone/>
            </a:pPr>
            <a:r>
              <a:rPr lang="en-US" sz="1800"/>
              <a:t>Enable replayability of maps with optimal path visualization.</a:t>
            </a:r>
            <a:br>
              <a:rPr lang="en-US" sz="1800"/>
            </a:br>
            <a:endParaRPr lang="en-US" sz="1800"/>
          </a:p>
          <a:p>
            <a:pPr marL="0" indent="0">
              <a:buNone/>
            </a:pPr>
            <a:r>
              <a:rPr lang="en-US" sz="1800"/>
              <a:t>Show the time taken for the optimal algorithm to solve the map.</a:t>
            </a:r>
            <a:endParaRPr lang="en-IL" sz="1800" dirty="0"/>
          </a:p>
        </p:txBody>
      </p:sp>
      <p:pic>
        <p:nvPicPr>
          <p:cNvPr id="6" name="Picture 5">
            <a:extLst>
              <a:ext uri="{FF2B5EF4-FFF2-40B4-BE49-F238E27FC236}">
                <a16:creationId xmlns:a16="http://schemas.microsoft.com/office/drawing/2014/main" id="{06C276B5-C039-3379-29E3-260846F6A7AC}"/>
              </a:ext>
            </a:extLst>
          </p:cNvPr>
          <p:cNvPicPr>
            <a:picLocks noChangeAspect="1"/>
          </p:cNvPicPr>
          <p:nvPr/>
        </p:nvPicPr>
        <p:blipFill>
          <a:blip r:embed="rId2"/>
          <a:stretch>
            <a:fillRect/>
          </a:stretch>
        </p:blipFill>
        <p:spPr>
          <a:xfrm>
            <a:off x="838200" y="1593709"/>
            <a:ext cx="914902" cy="4448317"/>
          </a:xfrm>
          <a:prstGeom prst="rect">
            <a:avLst/>
          </a:prstGeom>
        </p:spPr>
      </p:pic>
    </p:spTree>
    <p:extLst>
      <p:ext uri="{BB962C8B-B14F-4D97-AF65-F5344CB8AC3E}">
        <p14:creationId xmlns:p14="http://schemas.microsoft.com/office/powerpoint/2010/main" val="36393300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6B5FD-283D-5FCB-EBCB-B98C8BA7C578}"/>
              </a:ext>
            </a:extLst>
          </p:cNvPr>
          <p:cNvSpPr>
            <a:spLocks noGrp="1"/>
          </p:cNvSpPr>
          <p:nvPr>
            <p:ph type="title"/>
          </p:nvPr>
        </p:nvSpPr>
        <p:spPr/>
        <p:txBody>
          <a:bodyPr>
            <a:normAutofit/>
          </a:bodyPr>
          <a:lstStyle/>
          <a:p>
            <a:r>
              <a:rPr lang="en-US" sz="3600" dirty="0"/>
              <a:t>Ensuring a Quality Experience: Non-Functional Goals</a:t>
            </a:r>
            <a:endParaRPr lang="en-IL" sz="3600" dirty="0"/>
          </a:p>
        </p:txBody>
      </p:sp>
      <p:sp>
        <p:nvSpPr>
          <p:cNvPr id="4" name="Content Placeholder 2">
            <a:extLst>
              <a:ext uri="{FF2B5EF4-FFF2-40B4-BE49-F238E27FC236}">
                <a16:creationId xmlns:a16="http://schemas.microsoft.com/office/drawing/2014/main" id="{0113652F-E842-AF7A-ECBC-EFDBCE0DE6CC}"/>
              </a:ext>
            </a:extLst>
          </p:cNvPr>
          <p:cNvSpPr>
            <a:spLocks noGrp="1"/>
          </p:cNvSpPr>
          <p:nvPr>
            <p:ph idx="1"/>
          </p:nvPr>
        </p:nvSpPr>
        <p:spPr>
          <a:xfrm>
            <a:off x="2379133" y="1690689"/>
            <a:ext cx="3538090" cy="1738312"/>
          </a:xfrm>
        </p:spPr>
        <p:txBody>
          <a:bodyPr>
            <a:normAutofit/>
          </a:bodyPr>
          <a:lstStyle/>
          <a:p>
            <a:pPr marL="0" indent="0">
              <a:buNone/>
            </a:pPr>
            <a:r>
              <a:rPr lang="en-US" sz="2000" b="1" dirty="0"/>
              <a:t>Performance &amp; Compatibility</a:t>
            </a:r>
          </a:p>
          <a:p>
            <a:pPr marL="0" indent="0">
              <a:buNone/>
            </a:pPr>
            <a:r>
              <a:rPr lang="en-US" sz="2000" dirty="0"/>
              <a:t>The game will be fully functional on Windows and Android, with synchronized multiplayer game states.</a:t>
            </a:r>
            <a:endParaRPr lang="en-IL" sz="1600" dirty="0"/>
          </a:p>
        </p:txBody>
      </p:sp>
      <p:sp>
        <p:nvSpPr>
          <p:cNvPr id="5" name="Content Placeholder 2">
            <a:extLst>
              <a:ext uri="{FF2B5EF4-FFF2-40B4-BE49-F238E27FC236}">
                <a16:creationId xmlns:a16="http://schemas.microsoft.com/office/drawing/2014/main" id="{8B7E9319-7274-BF48-E4BA-F8BCC74CF321}"/>
              </a:ext>
            </a:extLst>
          </p:cNvPr>
          <p:cNvSpPr txBox="1">
            <a:spLocks/>
          </p:cNvSpPr>
          <p:nvPr/>
        </p:nvSpPr>
        <p:spPr>
          <a:xfrm>
            <a:off x="2379133" y="4534775"/>
            <a:ext cx="3298634" cy="195809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b="1" dirty="0"/>
              <a:t>Reliability</a:t>
            </a:r>
          </a:p>
          <a:p>
            <a:pPr marL="0" indent="0">
              <a:buNone/>
            </a:pPr>
            <a:r>
              <a:rPr lang="en-US" sz="2000" dirty="0"/>
              <a:t>All implemented pathfinding algorithms will produce Mathematically accurate results.</a:t>
            </a:r>
            <a:endParaRPr lang="en-IL" sz="1600" dirty="0"/>
          </a:p>
        </p:txBody>
      </p:sp>
      <p:sp>
        <p:nvSpPr>
          <p:cNvPr id="6" name="Content Placeholder 2">
            <a:extLst>
              <a:ext uri="{FF2B5EF4-FFF2-40B4-BE49-F238E27FC236}">
                <a16:creationId xmlns:a16="http://schemas.microsoft.com/office/drawing/2014/main" id="{1DC73473-09C8-0A61-EB86-ED1DE7448F0C}"/>
              </a:ext>
            </a:extLst>
          </p:cNvPr>
          <p:cNvSpPr txBox="1">
            <a:spLocks/>
          </p:cNvSpPr>
          <p:nvPr/>
        </p:nvSpPr>
        <p:spPr>
          <a:xfrm>
            <a:off x="8055166" y="4534776"/>
            <a:ext cx="3298634" cy="195809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b="1" dirty="0"/>
              <a:t>Engagement</a:t>
            </a:r>
          </a:p>
          <a:p>
            <a:pPr marL="0" indent="0">
              <a:buNone/>
            </a:pPr>
            <a:r>
              <a:rPr lang="en-US" sz="2000" dirty="0"/>
              <a:t>The game will be fun and successfully achieve its educational purpose.</a:t>
            </a:r>
            <a:endParaRPr lang="en-IL" sz="2000" dirty="0"/>
          </a:p>
        </p:txBody>
      </p:sp>
      <p:sp>
        <p:nvSpPr>
          <p:cNvPr id="7" name="Content Placeholder 2">
            <a:extLst>
              <a:ext uri="{FF2B5EF4-FFF2-40B4-BE49-F238E27FC236}">
                <a16:creationId xmlns:a16="http://schemas.microsoft.com/office/drawing/2014/main" id="{367E7B46-F71B-DE9C-5632-DFD8EFBFFDF8}"/>
              </a:ext>
            </a:extLst>
          </p:cNvPr>
          <p:cNvSpPr txBox="1">
            <a:spLocks/>
          </p:cNvSpPr>
          <p:nvPr/>
        </p:nvSpPr>
        <p:spPr>
          <a:xfrm>
            <a:off x="8055166" y="1690687"/>
            <a:ext cx="3664980" cy="195809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b="1" dirty="0"/>
              <a:t>Usability</a:t>
            </a:r>
          </a:p>
          <a:p>
            <a:pPr marL="0" indent="0">
              <a:buNone/>
            </a:pPr>
            <a:r>
              <a:rPr lang="en-US" sz="2000" dirty="0"/>
              <a:t>The Ul will automatically adapt to different screen resolutions, and input handling will be consistent across mouse and touchscreen devices.</a:t>
            </a:r>
            <a:endParaRPr lang="en-IL" sz="2000" dirty="0"/>
          </a:p>
        </p:txBody>
      </p:sp>
      <p:pic>
        <p:nvPicPr>
          <p:cNvPr id="15" name="Picture 14">
            <a:extLst>
              <a:ext uri="{FF2B5EF4-FFF2-40B4-BE49-F238E27FC236}">
                <a16:creationId xmlns:a16="http://schemas.microsoft.com/office/drawing/2014/main" id="{055E4D47-8809-F881-1FD2-73F9CD4DD1BA}"/>
              </a:ext>
            </a:extLst>
          </p:cNvPr>
          <p:cNvPicPr>
            <a:picLocks noChangeAspect="1"/>
          </p:cNvPicPr>
          <p:nvPr/>
        </p:nvPicPr>
        <p:blipFill>
          <a:blip r:embed="rId2"/>
          <a:stretch>
            <a:fillRect/>
          </a:stretch>
        </p:blipFill>
        <p:spPr>
          <a:xfrm>
            <a:off x="6154127" y="1690687"/>
            <a:ext cx="1837865" cy="1327347"/>
          </a:xfrm>
          <a:prstGeom prst="rect">
            <a:avLst/>
          </a:prstGeom>
        </p:spPr>
      </p:pic>
      <p:pic>
        <p:nvPicPr>
          <p:cNvPr id="17" name="Picture 16">
            <a:extLst>
              <a:ext uri="{FF2B5EF4-FFF2-40B4-BE49-F238E27FC236}">
                <a16:creationId xmlns:a16="http://schemas.microsoft.com/office/drawing/2014/main" id="{8AE0BC70-C79E-2DC6-747B-6D345B555B14}"/>
              </a:ext>
            </a:extLst>
          </p:cNvPr>
          <p:cNvPicPr>
            <a:picLocks noChangeAspect="1"/>
          </p:cNvPicPr>
          <p:nvPr/>
        </p:nvPicPr>
        <p:blipFill>
          <a:blip r:embed="rId3"/>
          <a:stretch>
            <a:fillRect/>
          </a:stretch>
        </p:blipFill>
        <p:spPr>
          <a:xfrm>
            <a:off x="576086" y="4534775"/>
            <a:ext cx="1316351" cy="1471216"/>
          </a:xfrm>
          <a:prstGeom prst="rect">
            <a:avLst/>
          </a:prstGeom>
        </p:spPr>
      </p:pic>
      <p:pic>
        <p:nvPicPr>
          <p:cNvPr id="19" name="Picture 18">
            <a:extLst>
              <a:ext uri="{FF2B5EF4-FFF2-40B4-BE49-F238E27FC236}">
                <a16:creationId xmlns:a16="http://schemas.microsoft.com/office/drawing/2014/main" id="{A8C6F387-FCC5-B33B-BF49-F3E1E3E118B7}"/>
              </a:ext>
            </a:extLst>
          </p:cNvPr>
          <p:cNvPicPr>
            <a:picLocks noChangeAspect="1"/>
          </p:cNvPicPr>
          <p:nvPr/>
        </p:nvPicPr>
        <p:blipFill>
          <a:blip r:embed="rId4"/>
          <a:stretch>
            <a:fillRect/>
          </a:stretch>
        </p:blipFill>
        <p:spPr>
          <a:xfrm>
            <a:off x="239429" y="1690687"/>
            <a:ext cx="1989666" cy="1367895"/>
          </a:xfrm>
          <a:prstGeom prst="rect">
            <a:avLst/>
          </a:prstGeom>
        </p:spPr>
      </p:pic>
      <p:pic>
        <p:nvPicPr>
          <p:cNvPr id="20" name="Picture 19">
            <a:extLst>
              <a:ext uri="{FF2B5EF4-FFF2-40B4-BE49-F238E27FC236}">
                <a16:creationId xmlns:a16="http://schemas.microsoft.com/office/drawing/2014/main" id="{D206FEC2-D84B-82A3-0C45-BDFB59AE12D0}"/>
              </a:ext>
            </a:extLst>
          </p:cNvPr>
          <p:cNvPicPr>
            <a:picLocks noChangeAspect="1"/>
          </p:cNvPicPr>
          <p:nvPr/>
        </p:nvPicPr>
        <p:blipFill>
          <a:blip r:embed="rId5"/>
          <a:stretch>
            <a:fillRect/>
          </a:stretch>
        </p:blipFill>
        <p:spPr>
          <a:xfrm>
            <a:off x="6356134" y="4404649"/>
            <a:ext cx="1635858" cy="1525327"/>
          </a:xfrm>
          <a:prstGeom prst="rect">
            <a:avLst/>
          </a:prstGeom>
        </p:spPr>
      </p:pic>
    </p:spTree>
    <p:extLst>
      <p:ext uri="{BB962C8B-B14F-4D97-AF65-F5344CB8AC3E}">
        <p14:creationId xmlns:p14="http://schemas.microsoft.com/office/powerpoint/2010/main" val="33087723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6B0F7B-E73A-9E34-8A2C-84BA82CB6033}"/>
              </a:ext>
            </a:extLst>
          </p:cNvPr>
          <p:cNvSpPr>
            <a:spLocks noGrp="1"/>
          </p:cNvSpPr>
          <p:nvPr>
            <p:ph type="title"/>
          </p:nvPr>
        </p:nvSpPr>
        <p:spPr/>
        <p:txBody>
          <a:bodyPr>
            <a:normAutofit/>
          </a:bodyPr>
          <a:lstStyle/>
          <a:p>
            <a:r>
              <a:rPr lang="en-US" sz="3600" dirty="0"/>
              <a:t>Our Commitment to Quality: Verification and Evaluation</a:t>
            </a:r>
            <a:endParaRPr lang="en-IL" sz="3600" dirty="0"/>
          </a:p>
        </p:txBody>
      </p:sp>
      <p:sp>
        <p:nvSpPr>
          <p:cNvPr id="3" name="Content Placeholder 2">
            <a:extLst>
              <a:ext uri="{FF2B5EF4-FFF2-40B4-BE49-F238E27FC236}">
                <a16:creationId xmlns:a16="http://schemas.microsoft.com/office/drawing/2014/main" id="{893FE9DC-9104-0801-92AA-393C780AAEC3}"/>
              </a:ext>
            </a:extLst>
          </p:cNvPr>
          <p:cNvSpPr>
            <a:spLocks noGrp="1"/>
          </p:cNvSpPr>
          <p:nvPr>
            <p:ph idx="1"/>
          </p:nvPr>
        </p:nvSpPr>
        <p:spPr>
          <a:xfrm>
            <a:off x="838200" y="1574618"/>
            <a:ext cx="9668435" cy="558987"/>
          </a:xfrm>
        </p:spPr>
        <p:txBody>
          <a:bodyPr>
            <a:normAutofit/>
          </a:bodyPr>
          <a:lstStyle/>
          <a:p>
            <a:pPr marL="0" indent="0">
              <a:buNone/>
            </a:pPr>
            <a:r>
              <a:rPr lang="en-US" sz="2000" dirty="0"/>
              <a:t>We utilize the industry-standard Unity Test Framework (UTF) for automated testing.</a:t>
            </a:r>
            <a:endParaRPr lang="en-IL" sz="2000" dirty="0"/>
          </a:p>
        </p:txBody>
      </p:sp>
      <p:sp>
        <p:nvSpPr>
          <p:cNvPr id="4" name="Content Placeholder 2">
            <a:extLst>
              <a:ext uri="{FF2B5EF4-FFF2-40B4-BE49-F238E27FC236}">
                <a16:creationId xmlns:a16="http://schemas.microsoft.com/office/drawing/2014/main" id="{A6482344-87E6-B791-EDD6-5C13077A61B8}"/>
              </a:ext>
            </a:extLst>
          </p:cNvPr>
          <p:cNvSpPr txBox="1">
            <a:spLocks/>
          </p:cNvSpPr>
          <p:nvPr/>
        </p:nvSpPr>
        <p:spPr>
          <a:xfrm>
            <a:off x="838200" y="2341194"/>
            <a:ext cx="4666130" cy="558987"/>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b="1" dirty="0"/>
              <a:t>Evaluation Strategy (What We Measure)</a:t>
            </a:r>
            <a:endParaRPr lang="en-IL" sz="2000" b="1" dirty="0"/>
          </a:p>
        </p:txBody>
      </p:sp>
      <p:sp>
        <p:nvSpPr>
          <p:cNvPr id="5" name="Content Placeholder 2">
            <a:extLst>
              <a:ext uri="{FF2B5EF4-FFF2-40B4-BE49-F238E27FC236}">
                <a16:creationId xmlns:a16="http://schemas.microsoft.com/office/drawing/2014/main" id="{D00D5356-9F9E-11DB-8D40-33D7B5DF8121}"/>
              </a:ext>
            </a:extLst>
          </p:cNvPr>
          <p:cNvSpPr txBox="1">
            <a:spLocks/>
          </p:cNvSpPr>
          <p:nvPr/>
        </p:nvSpPr>
        <p:spPr>
          <a:xfrm>
            <a:off x="1531784" y="2900181"/>
            <a:ext cx="7064829" cy="289951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b="1" dirty="0"/>
              <a:t>Algorithmic Integrity: </a:t>
            </a:r>
            <a:r>
              <a:rPr lang="en-US" sz="2000" dirty="0"/>
              <a:t>Verifying the mathematical accuracy of pathfinding logic.</a:t>
            </a:r>
          </a:p>
          <a:p>
            <a:pPr marL="0" indent="0">
              <a:buNone/>
            </a:pPr>
            <a:r>
              <a:rPr lang="en-US" sz="2000" b="1" dirty="0"/>
              <a:t>System Performance: </a:t>
            </a:r>
            <a:r>
              <a:rPr lang="en-US" sz="2000" dirty="0"/>
              <a:t>Measuring network stability and latency between devices.</a:t>
            </a:r>
          </a:p>
          <a:p>
            <a:pPr marL="0" indent="0">
              <a:buNone/>
            </a:pPr>
            <a:r>
              <a:rPr lang="en-US" sz="2000" b="1" dirty="0"/>
              <a:t>ML-Agent Proficiency:</a:t>
            </a:r>
            <a:r>
              <a:rPr lang="en-US" sz="2000" dirty="0"/>
              <a:t> Assessing the Al agent’s intelligence and behavior.</a:t>
            </a:r>
          </a:p>
          <a:p>
            <a:pPr marL="0" indent="0">
              <a:buNone/>
            </a:pPr>
            <a:r>
              <a:rPr lang="en-US" sz="2000" b="1" dirty="0"/>
              <a:t>Educational Efficacy:</a:t>
            </a:r>
            <a:r>
              <a:rPr lang="en-US" sz="2000" dirty="0"/>
              <a:t> Evaluating the design's effectiveness in teaching concepts.</a:t>
            </a:r>
            <a:endParaRPr lang="en-IL" sz="2000" dirty="0"/>
          </a:p>
        </p:txBody>
      </p:sp>
      <p:pic>
        <p:nvPicPr>
          <p:cNvPr id="9" name="Picture 8">
            <a:extLst>
              <a:ext uri="{FF2B5EF4-FFF2-40B4-BE49-F238E27FC236}">
                <a16:creationId xmlns:a16="http://schemas.microsoft.com/office/drawing/2014/main" id="{5A5CC2D3-6498-2A70-47D9-9A59C02D5DD4}"/>
              </a:ext>
            </a:extLst>
          </p:cNvPr>
          <p:cNvPicPr>
            <a:picLocks noChangeAspect="1"/>
          </p:cNvPicPr>
          <p:nvPr/>
        </p:nvPicPr>
        <p:blipFill>
          <a:blip r:embed="rId2"/>
          <a:stretch>
            <a:fillRect/>
          </a:stretch>
        </p:blipFill>
        <p:spPr>
          <a:xfrm>
            <a:off x="838200" y="2801439"/>
            <a:ext cx="693584" cy="2560926"/>
          </a:xfrm>
          <a:prstGeom prst="rect">
            <a:avLst/>
          </a:prstGeom>
        </p:spPr>
      </p:pic>
    </p:spTree>
    <p:extLst>
      <p:ext uri="{BB962C8B-B14F-4D97-AF65-F5344CB8AC3E}">
        <p14:creationId xmlns:p14="http://schemas.microsoft.com/office/powerpoint/2010/main" val="1460430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9EEA4577-FFE4-9F0C-6483-38A4A1B9BC0D}"/>
              </a:ext>
            </a:extLst>
          </p:cNvPr>
          <p:cNvSpPr txBox="1">
            <a:spLocks/>
          </p:cNvSpPr>
          <p:nvPr/>
        </p:nvSpPr>
        <p:spPr>
          <a:xfrm>
            <a:off x="838200" y="1185494"/>
            <a:ext cx="4666130" cy="55898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b="1" dirty="0"/>
              <a:t>Verification Tools (How We Test)</a:t>
            </a:r>
            <a:endParaRPr lang="en-IL" sz="2000" b="1" dirty="0"/>
          </a:p>
        </p:txBody>
      </p:sp>
      <p:sp>
        <p:nvSpPr>
          <p:cNvPr id="5" name="TextBox 4">
            <a:extLst>
              <a:ext uri="{FF2B5EF4-FFF2-40B4-BE49-F238E27FC236}">
                <a16:creationId xmlns:a16="http://schemas.microsoft.com/office/drawing/2014/main" id="{C65EADFA-5282-D669-6A10-0C35272AB2C5}"/>
              </a:ext>
            </a:extLst>
          </p:cNvPr>
          <p:cNvSpPr txBox="1"/>
          <p:nvPr/>
        </p:nvSpPr>
        <p:spPr>
          <a:xfrm>
            <a:off x="4534149" y="2342981"/>
            <a:ext cx="3123702" cy="1938992"/>
          </a:xfrm>
          <a:prstGeom prst="rect">
            <a:avLst/>
          </a:prstGeom>
          <a:noFill/>
        </p:spPr>
        <p:txBody>
          <a:bodyPr wrap="square" rtlCol="0">
            <a:spAutoFit/>
          </a:bodyPr>
          <a:lstStyle/>
          <a:p>
            <a:r>
              <a:rPr lang="en-US" sz="2400" b="1" dirty="0" err="1"/>
              <a:t>PlayMode</a:t>
            </a:r>
            <a:r>
              <a:rPr lang="en-US" sz="2400" b="1" dirty="0"/>
              <a:t> Tests</a:t>
            </a:r>
          </a:p>
          <a:p>
            <a:r>
              <a:rPr lang="en-US" sz="2400" dirty="0"/>
              <a:t>Integration tests to verify game mechanics during real-time execution.</a:t>
            </a:r>
          </a:p>
        </p:txBody>
      </p:sp>
      <p:sp>
        <p:nvSpPr>
          <p:cNvPr id="6" name="TextBox 5">
            <a:extLst>
              <a:ext uri="{FF2B5EF4-FFF2-40B4-BE49-F238E27FC236}">
                <a16:creationId xmlns:a16="http://schemas.microsoft.com/office/drawing/2014/main" id="{9658D18D-5363-D95A-1E72-6B1AE65D5138}"/>
              </a:ext>
            </a:extLst>
          </p:cNvPr>
          <p:cNvSpPr txBox="1"/>
          <p:nvPr/>
        </p:nvSpPr>
        <p:spPr>
          <a:xfrm>
            <a:off x="838200" y="2348315"/>
            <a:ext cx="3413686" cy="1569660"/>
          </a:xfrm>
          <a:prstGeom prst="rect">
            <a:avLst/>
          </a:prstGeom>
          <a:noFill/>
        </p:spPr>
        <p:txBody>
          <a:bodyPr wrap="square" rtlCol="0">
            <a:spAutoFit/>
          </a:bodyPr>
          <a:lstStyle/>
          <a:p>
            <a:r>
              <a:rPr lang="en-US" sz="2400" b="1" dirty="0" err="1"/>
              <a:t>EditMode</a:t>
            </a:r>
            <a:r>
              <a:rPr lang="en-US" sz="2400" b="1" dirty="0"/>
              <a:t> Tests</a:t>
            </a:r>
          </a:p>
          <a:p>
            <a:r>
              <a:rPr lang="en-US" sz="2400" dirty="0"/>
              <a:t>Unit tests for algorithms, run instantly in the editor.</a:t>
            </a:r>
          </a:p>
        </p:txBody>
      </p:sp>
      <p:sp>
        <p:nvSpPr>
          <p:cNvPr id="7" name="TextBox 6">
            <a:extLst>
              <a:ext uri="{FF2B5EF4-FFF2-40B4-BE49-F238E27FC236}">
                <a16:creationId xmlns:a16="http://schemas.microsoft.com/office/drawing/2014/main" id="{ABA37F0A-53D2-D724-FB93-1EC64E16A73A}"/>
              </a:ext>
            </a:extLst>
          </p:cNvPr>
          <p:cNvSpPr txBox="1"/>
          <p:nvPr/>
        </p:nvSpPr>
        <p:spPr>
          <a:xfrm>
            <a:off x="7940114" y="2274838"/>
            <a:ext cx="3261783" cy="2308324"/>
          </a:xfrm>
          <a:prstGeom prst="rect">
            <a:avLst/>
          </a:prstGeom>
          <a:noFill/>
        </p:spPr>
        <p:txBody>
          <a:bodyPr wrap="square" rtlCol="0">
            <a:spAutoFit/>
          </a:bodyPr>
          <a:lstStyle/>
          <a:p>
            <a:r>
              <a:rPr lang="en-US" sz="2400" b="1" dirty="0"/>
              <a:t>Performance Testing Extension</a:t>
            </a:r>
          </a:p>
          <a:p>
            <a:r>
              <a:rPr lang="en-US" sz="2400" dirty="0"/>
              <a:t>Benchmarking tools to measure execution time and memory usage.</a:t>
            </a:r>
            <a:endParaRPr lang="en-IL" sz="2400" dirty="0"/>
          </a:p>
        </p:txBody>
      </p:sp>
    </p:spTree>
    <p:extLst>
      <p:ext uri="{BB962C8B-B14F-4D97-AF65-F5344CB8AC3E}">
        <p14:creationId xmlns:p14="http://schemas.microsoft.com/office/powerpoint/2010/main" val="42015645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F2E353-324A-7890-7D86-F4FD2564B26E}"/>
              </a:ext>
            </a:extLst>
          </p:cNvPr>
          <p:cNvSpPr>
            <a:spLocks noGrp="1"/>
          </p:cNvSpPr>
          <p:nvPr>
            <p:ph type="title"/>
          </p:nvPr>
        </p:nvSpPr>
        <p:spPr/>
        <p:txBody>
          <a:bodyPr>
            <a:normAutofit/>
          </a:bodyPr>
          <a:lstStyle/>
          <a:p>
            <a:r>
              <a:rPr lang="en-US" sz="3600" dirty="0"/>
              <a:t>Navigating Development: Key Challenges and Learnings</a:t>
            </a:r>
            <a:endParaRPr lang="en-IL" sz="3600" dirty="0"/>
          </a:p>
        </p:txBody>
      </p:sp>
      <p:sp>
        <p:nvSpPr>
          <p:cNvPr id="3" name="Content Placeholder 2">
            <a:extLst>
              <a:ext uri="{FF2B5EF4-FFF2-40B4-BE49-F238E27FC236}">
                <a16:creationId xmlns:a16="http://schemas.microsoft.com/office/drawing/2014/main" id="{96F01A83-1A9E-4A48-D26D-3ADA68B67ED2}"/>
              </a:ext>
            </a:extLst>
          </p:cNvPr>
          <p:cNvSpPr>
            <a:spLocks noGrp="1"/>
          </p:cNvSpPr>
          <p:nvPr>
            <p:ph idx="1"/>
          </p:nvPr>
        </p:nvSpPr>
        <p:spPr>
          <a:xfrm>
            <a:off x="838200" y="1548037"/>
            <a:ext cx="10515600" cy="835932"/>
          </a:xfrm>
        </p:spPr>
        <p:txBody>
          <a:bodyPr>
            <a:normAutofit/>
          </a:bodyPr>
          <a:lstStyle/>
          <a:p>
            <a:pPr marL="0" indent="0">
              <a:buNone/>
            </a:pPr>
            <a:r>
              <a:rPr lang="en-US" sz="2000" dirty="0"/>
              <a:t>We adopted an iterative “learn-by-doing” methodology, supplementing a foundational Unity course with extensive research into documentation and developer forums.</a:t>
            </a:r>
            <a:endParaRPr lang="en-IL" sz="2000" dirty="0"/>
          </a:p>
        </p:txBody>
      </p:sp>
      <p:sp>
        <p:nvSpPr>
          <p:cNvPr id="4" name="TextBox 3">
            <a:extLst>
              <a:ext uri="{FF2B5EF4-FFF2-40B4-BE49-F238E27FC236}">
                <a16:creationId xmlns:a16="http://schemas.microsoft.com/office/drawing/2014/main" id="{512738CB-3A92-48DF-4151-B265F31D5FF6}"/>
              </a:ext>
            </a:extLst>
          </p:cNvPr>
          <p:cNvSpPr txBox="1"/>
          <p:nvPr/>
        </p:nvSpPr>
        <p:spPr>
          <a:xfrm>
            <a:off x="1793546" y="2470661"/>
            <a:ext cx="3709830" cy="1754326"/>
          </a:xfrm>
          <a:prstGeom prst="rect">
            <a:avLst/>
          </a:prstGeom>
          <a:noFill/>
        </p:spPr>
        <p:txBody>
          <a:bodyPr wrap="square" rtlCol="0">
            <a:spAutoFit/>
          </a:bodyPr>
          <a:lstStyle/>
          <a:p>
            <a:r>
              <a:rPr lang="en-US" b="1" dirty="0"/>
              <a:t>Optimization for Mobile Hardware</a:t>
            </a:r>
          </a:p>
          <a:p>
            <a:r>
              <a:rPr lang="en-US" dirty="0"/>
              <a:t>The computational expense of pathfinding required strict memory and resource management to prevent battery drain and maintain stable frame-rates on Android.</a:t>
            </a:r>
            <a:endParaRPr lang="en-IL" dirty="0"/>
          </a:p>
        </p:txBody>
      </p:sp>
      <p:sp>
        <p:nvSpPr>
          <p:cNvPr id="5" name="TextBox 4">
            <a:extLst>
              <a:ext uri="{FF2B5EF4-FFF2-40B4-BE49-F238E27FC236}">
                <a16:creationId xmlns:a16="http://schemas.microsoft.com/office/drawing/2014/main" id="{2E6DC6F1-59DB-4248-4D64-7EC937F5DB2B}"/>
              </a:ext>
            </a:extLst>
          </p:cNvPr>
          <p:cNvSpPr txBox="1"/>
          <p:nvPr/>
        </p:nvSpPr>
        <p:spPr>
          <a:xfrm>
            <a:off x="7548155" y="2476302"/>
            <a:ext cx="4212771" cy="1477328"/>
          </a:xfrm>
          <a:prstGeom prst="rect">
            <a:avLst/>
          </a:prstGeom>
          <a:noFill/>
        </p:spPr>
        <p:txBody>
          <a:bodyPr wrap="square" rtlCol="0">
            <a:spAutoFit/>
          </a:bodyPr>
          <a:lstStyle/>
          <a:p>
            <a:r>
              <a:rPr lang="en-US" b="1" dirty="0"/>
              <a:t>Cross-Platform Synchronization</a:t>
            </a:r>
          </a:p>
          <a:p>
            <a:r>
              <a:rPr lang="en-US" dirty="0"/>
              <a:t>Ensuring minimal latency and a consistent UI/UX between PC (mouse) and mobile (touch) was a complex networking and design challenge.</a:t>
            </a:r>
            <a:endParaRPr lang="en-IL" dirty="0"/>
          </a:p>
        </p:txBody>
      </p:sp>
      <p:sp>
        <p:nvSpPr>
          <p:cNvPr id="7" name="TextBox 6">
            <a:extLst>
              <a:ext uri="{FF2B5EF4-FFF2-40B4-BE49-F238E27FC236}">
                <a16:creationId xmlns:a16="http://schemas.microsoft.com/office/drawing/2014/main" id="{B76A730B-27AF-5409-A420-3664958EC48F}"/>
              </a:ext>
            </a:extLst>
          </p:cNvPr>
          <p:cNvSpPr txBox="1"/>
          <p:nvPr/>
        </p:nvSpPr>
        <p:spPr>
          <a:xfrm>
            <a:off x="5226598" y="4772297"/>
            <a:ext cx="4212771" cy="1754326"/>
          </a:xfrm>
          <a:prstGeom prst="rect">
            <a:avLst/>
          </a:prstGeom>
          <a:noFill/>
        </p:spPr>
        <p:txBody>
          <a:bodyPr wrap="square" rtlCol="0">
            <a:spAutoFit/>
          </a:bodyPr>
          <a:lstStyle/>
          <a:p>
            <a:r>
              <a:rPr lang="en-US" b="1" dirty="0"/>
              <a:t>ML-Agent Training</a:t>
            </a:r>
          </a:p>
          <a:p>
            <a:r>
              <a:rPr lang="en-US" dirty="0"/>
              <a:t>The primary difficulty was training a neural network that was both intelligent enough to be a challenge and computationally light enough to run locally on a mobile device.</a:t>
            </a:r>
            <a:endParaRPr lang="en-IL" dirty="0"/>
          </a:p>
        </p:txBody>
      </p:sp>
      <p:pic>
        <p:nvPicPr>
          <p:cNvPr id="12" name="Picture 11">
            <a:extLst>
              <a:ext uri="{FF2B5EF4-FFF2-40B4-BE49-F238E27FC236}">
                <a16:creationId xmlns:a16="http://schemas.microsoft.com/office/drawing/2014/main" id="{51C7926B-C4DA-4012-FCB5-71FF925A4568}"/>
              </a:ext>
            </a:extLst>
          </p:cNvPr>
          <p:cNvPicPr>
            <a:picLocks noChangeAspect="1"/>
          </p:cNvPicPr>
          <p:nvPr/>
        </p:nvPicPr>
        <p:blipFill>
          <a:blip r:embed="rId2"/>
          <a:stretch>
            <a:fillRect/>
          </a:stretch>
        </p:blipFill>
        <p:spPr>
          <a:xfrm>
            <a:off x="3837187" y="4772297"/>
            <a:ext cx="1229758" cy="1354818"/>
          </a:xfrm>
          <a:prstGeom prst="rect">
            <a:avLst/>
          </a:prstGeom>
        </p:spPr>
      </p:pic>
      <p:pic>
        <p:nvPicPr>
          <p:cNvPr id="14" name="Picture 13">
            <a:extLst>
              <a:ext uri="{FF2B5EF4-FFF2-40B4-BE49-F238E27FC236}">
                <a16:creationId xmlns:a16="http://schemas.microsoft.com/office/drawing/2014/main" id="{72314CA6-F4B2-7DC4-25EF-A3A64E8C8FD9}"/>
              </a:ext>
            </a:extLst>
          </p:cNvPr>
          <p:cNvPicPr>
            <a:picLocks noChangeAspect="1"/>
          </p:cNvPicPr>
          <p:nvPr/>
        </p:nvPicPr>
        <p:blipFill>
          <a:blip r:embed="rId3"/>
          <a:stretch>
            <a:fillRect/>
          </a:stretch>
        </p:blipFill>
        <p:spPr>
          <a:xfrm>
            <a:off x="6096000" y="2413477"/>
            <a:ext cx="1236984" cy="1153404"/>
          </a:xfrm>
          <a:prstGeom prst="rect">
            <a:avLst/>
          </a:prstGeom>
        </p:spPr>
      </p:pic>
      <p:pic>
        <p:nvPicPr>
          <p:cNvPr id="16" name="Picture 15">
            <a:extLst>
              <a:ext uri="{FF2B5EF4-FFF2-40B4-BE49-F238E27FC236}">
                <a16:creationId xmlns:a16="http://schemas.microsoft.com/office/drawing/2014/main" id="{D657EB04-312B-7652-F83A-212D8C634CD1}"/>
              </a:ext>
            </a:extLst>
          </p:cNvPr>
          <p:cNvPicPr>
            <a:picLocks noChangeAspect="1"/>
          </p:cNvPicPr>
          <p:nvPr/>
        </p:nvPicPr>
        <p:blipFill>
          <a:blip r:embed="rId4"/>
          <a:stretch>
            <a:fillRect/>
          </a:stretch>
        </p:blipFill>
        <p:spPr>
          <a:xfrm>
            <a:off x="526869" y="2476302"/>
            <a:ext cx="1051506" cy="1141635"/>
          </a:xfrm>
          <a:prstGeom prst="rect">
            <a:avLst/>
          </a:prstGeom>
        </p:spPr>
      </p:pic>
    </p:spTree>
    <p:extLst>
      <p:ext uri="{BB962C8B-B14F-4D97-AF65-F5344CB8AC3E}">
        <p14:creationId xmlns:p14="http://schemas.microsoft.com/office/powerpoint/2010/main" val="21944646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B3A2D1A-45FC-4F95-B150-1C13EF2F6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3768FD5-DD7A-43C7-8DEA-1F5DB3CB5B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999"/>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EF50AD8-D4BF-F971-E615-74252BEF1ECA}"/>
              </a:ext>
            </a:extLst>
          </p:cNvPr>
          <p:cNvSpPr>
            <a:spLocks noGrp="1"/>
          </p:cNvSpPr>
          <p:nvPr>
            <p:ph type="title"/>
          </p:nvPr>
        </p:nvSpPr>
        <p:spPr>
          <a:xfrm>
            <a:off x="976746" y="3703975"/>
            <a:ext cx="4337858" cy="2398713"/>
          </a:xfrm>
        </p:spPr>
        <p:txBody>
          <a:bodyPr>
            <a:normAutofit/>
          </a:bodyPr>
          <a:lstStyle/>
          <a:p>
            <a:pPr algn="ctr"/>
            <a:r>
              <a:rPr lang="en-US" sz="4000" dirty="0"/>
              <a:t>Impact: Where Intuition Meets Algorithmic Insight</a:t>
            </a:r>
            <a:endParaRPr lang="en-IL" sz="4000"/>
          </a:p>
        </p:txBody>
      </p:sp>
      <p:pic>
        <p:nvPicPr>
          <p:cNvPr id="4" name="Picture 3">
            <a:extLst>
              <a:ext uri="{FF2B5EF4-FFF2-40B4-BE49-F238E27FC236}">
                <a16:creationId xmlns:a16="http://schemas.microsoft.com/office/drawing/2014/main" id="{DCBA604F-E287-3D49-4585-E46B78CD99DA}"/>
              </a:ext>
            </a:extLst>
          </p:cNvPr>
          <p:cNvPicPr>
            <a:picLocks noChangeAspect="1"/>
          </p:cNvPicPr>
          <p:nvPr/>
        </p:nvPicPr>
        <p:blipFill>
          <a:blip r:embed="rId3"/>
          <a:srcRect t="7248" b="11273"/>
          <a:stretch>
            <a:fillRect/>
          </a:stretch>
        </p:blipFill>
        <p:spPr>
          <a:xfrm>
            <a:off x="2" y="10"/>
            <a:ext cx="12191999" cy="3154014"/>
          </a:xfrm>
          <a:custGeom>
            <a:avLst/>
            <a:gdLst/>
            <a:ahLst/>
            <a:cxnLst/>
            <a:rect l="l" t="t" r="r" b="b"/>
            <a:pathLst>
              <a:path w="12191999" h="3428999">
                <a:moveTo>
                  <a:pt x="0" y="0"/>
                </a:moveTo>
                <a:lnTo>
                  <a:pt x="12191999" y="0"/>
                </a:lnTo>
                <a:lnTo>
                  <a:pt x="12191999" y="920893"/>
                </a:lnTo>
                <a:lnTo>
                  <a:pt x="12191999" y="1514929"/>
                </a:lnTo>
                <a:lnTo>
                  <a:pt x="12191999" y="3130902"/>
                </a:lnTo>
                <a:lnTo>
                  <a:pt x="12188051" y="3131476"/>
                </a:lnTo>
                <a:cubicBezTo>
                  <a:pt x="12153000" y="3135813"/>
                  <a:pt x="12133655" y="3136025"/>
                  <a:pt x="12112012" y="3138906"/>
                </a:cubicBezTo>
                <a:cubicBezTo>
                  <a:pt x="12076970" y="3145595"/>
                  <a:pt x="12039899" y="3160769"/>
                  <a:pt x="12018752" y="3165642"/>
                </a:cubicBezTo>
                <a:lnTo>
                  <a:pt x="11985122" y="3168147"/>
                </a:lnTo>
                <a:lnTo>
                  <a:pt x="11986344" y="3172878"/>
                </a:lnTo>
                <a:lnTo>
                  <a:pt x="11973852" y="3173226"/>
                </a:lnTo>
                <a:lnTo>
                  <a:pt x="11945968" y="3173341"/>
                </a:lnTo>
                <a:cubicBezTo>
                  <a:pt x="11928568" y="3174057"/>
                  <a:pt x="11880184" y="3172923"/>
                  <a:pt x="11862470" y="3174654"/>
                </a:cubicBezTo>
                <a:cubicBezTo>
                  <a:pt x="11857360" y="3179700"/>
                  <a:pt x="11849473" y="3182451"/>
                  <a:pt x="11839688" y="3183726"/>
                </a:cubicBezTo>
                <a:lnTo>
                  <a:pt x="11818138" y="3183868"/>
                </a:lnTo>
                <a:lnTo>
                  <a:pt x="11693161" y="3196027"/>
                </a:lnTo>
                <a:lnTo>
                  <a:pt x="11675978" y="3196936"/>
                </a:lnTo>
                <a:lnTo>
                  <a:pt x="11666672" y="3201013"/>
                </a:lnTo>
                <a:cubicBezTo>
                  <a:pt x="11659568" y="3201827"/>
                  <a:pt x="11639160" y="3201301"/>
                  <a:pt x="11633348" y="3201823"/>
                </a:cubicBezTo>
                <a:lnTo>
                  <a:pt x="11631806" y="3204144"/>
                </a:lnTo>
                <a:cubicBezTo>
                  <a:pt x="11613292" y="3207852"/>
                  <a:pt x="11543654" y="3220200"/>
                  <a:pt x="11522270" y="3224070"/>
                </a:cubicBezTo>
                <a:cubicBezTo>
                  <a:pt x="11517998" y="3220503"/>
                  <a:pt x="11508432" y="3226137"/>
                  <a:pt x="11503503" y="3227361"/>
                </a:cubicBezTo>
                <a:cubicBezTo>
                  <a:pt x="11502740" y="3224959"/>
                  <a:pt x="11490808" y="3224226"/>
                  <a:pt x="11487288" y="3226364"/>
                </a:cubicBezTo>
                <a:cubicBezTo>
                  <a:pt x="11403406" y="3238085"/>
                  <a:pt x="11445394" y="3213864"/>
                  <a:pt x="11397514" y="3229209"/>
                </a:cubicBezTo>
                <a:cubicBezTo>
                  <a:pt x="11389044" y="3230225"/>
                  <a:pt x="11382180" y="3229256"/>
                  <a:pt x="11376160" y="3227461"/>
                </a:cubicBezTo>
                <a:lnTo>
                  <a:pt x="11367180" y="3223774"/>
                </a:lnTo>
                <a:lnTo>
                  <a:pt x="11332420" y="3230742"/>
                </a:lnTo>
                <a:cubicBezTo>
                  <a:pt x="11315298" y="3233171"/>
                  <a:pt x="11297277" y="3234781"/>
                  <a:pt x="11278786" y="3235517"/>
                </a:cubicBezTo>
                <a:cubicBezTo>
                  <a:pt x="11274637" y="3230607"/>
                  <a:pt x="11260123" y="3237582"/>
                  <a:pt x="11253295" y="3238964"/>
                </a:cubicBezTo>
                <a:cubicBezTo>
                  <a:pt x="11253224" y="3235757"/>
                  <a:pt x="11238096" y="3234220"/>
                  <a:pt x="11232727" y="3236871"/>
                </a:cubicBezTo>
                <a:cubicBezTo>
                  <a:pt x="11119903" y="3248332"/>
                  <a:pt x="11183388" y="3218382"/>
                  <a:pt x="11115682" y="3236341"/>
                </a:cubicBezTo>
                <a:cubicBezTo>
                  <a:pt x="11104356" y="3237278"/>
                  <a:pt x="11095858" y="3235671"/>
                  <a:pt x="11088768" y="3233017"/>
                </a:cubicBezTo>
                <a:lnTo>
                  <a:pt x="11076012" y="3226390"/>
                </a:lnTo>
                <a:lnTo>
                  <a:pt x="11066016" y="3228753"/>
                </a:lnTo>
                <a:cubicBezTo>
                  <a:pt x="11028292" y="3228939"/>
                  <a:pt x="11017169" y="3222147"/>
                  <a:pt x="10995221" y="3228989"/>
                </a:cubicBezTo>
                <a:cubicBezTo>
                  <a:pt x="10962786" y="3214768"/>
                  <a:pt x="10973708" y="3227571"/>
                  <a:pt x="10949038" y="3229747"/>
                </a:cubicBezTo>
                <a:cubicBezTo>
                  <a:pt x="10929576" y="3232582"/>
                  <a:pt x="10965306" y="3238039"/>
                  <a:pt x="10946231" y="3238844"/>
                </a:cubicBezTo>
                <a:cubicBezTo>
                  <a:pt x="10925596" y="3235173"/>
                  <a:pt x="10926566" y="3246575"/>
                  <a:pt x="10905107" y="3242085"/>
                </a:cubicBezTo>
                <a:cubicBezTo>
                  <a:pt x="10910320" y="3233495"/>
                  <a:pt x="10862761" y="3243750"/>
                  <a:pt x="10861282" y="3236246"/>
                </a:cubicBezTo>
                <a:cubicBezTo>
                  <a:pt x="10843055" y="3246977"/>
                  <a:pt x="10833897" y="3233757"/>
                  <a:pt x="10809627" y="3237064"/>
                </a:cubicBezTo>
                <a:cubicBezTo>
                  <a:pt x="10798198" y="3241124"/>
                  <a:pt x="10789952" y="3241821"/>
                  <a:pt x="10778718" y="3237455"/>
                </a:cubicBezTo>
                <a:cubicBezTo>
                  <a:pt x="10726069" y="3257219"/>
                  <a:pt x="10746866" y="3238339"/>
                  <a:pt x="10697595" y="3245939"/>
                </a:cubicBezTo>
                <a:cubicBezTo>
                  <a:pt x="10655146" y="3253933"/>
                  <a:pt x="10607026" y="3259119"/>
                  <a:pt x="10565970" y="3278201"/>
                </a:cubicBezTo>
                <a:cubicBezTo>
                  <a:pt x="10558434" y="3283608"/>
                  <a:pt x="10539930" y="3285654"/>
                  <a:pt x="10524645" y="3282773"/>
                </a:cubicBezTo>
                <a:cubicBezTo>
                  <a:pt x="10522018" y="3282276"/>
                  <a:pt x="10519582" y="3281649"/>
                  <a:pt x="10517421" y="3280913"/>
                </a:cubicBezTo>
                <a:cubicBezTo>
                  <a:pt x="10481928" y="3283832"/>
                  <a:pt x="10352108" y="3296870"/>
                  <a:pt x="10311683" y="3300288"/>
                </a:cubicBezTo>
                <a:cubicBezTo>
                  <a:pt x="10308410" y="3293342"/>
                  <a:pt x="10287968" y="3305875"/>
                  <a:pt x="10274873" y="3301423"/>
                </a:cubicBezTo>
                <a:cubicBezTo>
                  <a:pt x="10265494" y="3297516"/>
                  <a:pt x="10257104" y="3300407"/>
                  <a:pt x="10247307" y="3300714"/>
                </a:cubicBezTo>
                <a:cubicBezTo>
                  <a:pt x="10234401" y="3297643"/>
                  <a:pt x="10192308" y="3303190"/>
                  <a:pt x="10181334" y="3307168"/>
                </a:cubicBezTo>
                <a:cubicBezTo>
                  <a:pt x="10155109" y="3320992"/>
                  <a:pt x="10095518" y="3310726"/>
                  <a:pt x="10073729" y="3321318"/>
                </a:cubicBezTo>
                <a:cubicBezTo>
                  <a:pt x="10065823" y="3322872"/>
                  <a:pt x="10058087" y="3323501"/>
                  <a:pt x="10050495" y="3323554"/>
                </a:cubicBezTo>
                <a:lnTo>
                  <a:pt x="10029247" y="3322387"/>
                </a:lnTo>
                <a:lnTo>
                  <a:pt x="10023206" y="3319426"/>
                </a:lnTo>
                <a:lnTo>
                  <a:pt x="10010221" y="3320159"/>
                </a:lnTo>
                <a:lnTo>
                  <a:pt x="10006500" y="3319709"/>
                </a:lnTo>
                <a:cubicBezTo>
                  <a:pt x="9999392" y="3318836"/>
                  <a:pt x="9992376" y="3318075"/>
                  <a:pt x="9985433" y="3317775"/>
                </a:cubicBezTo>
                <a:cubicBezTo>
                  <a:pt x="9994564" y="3332623"/>
                  <a:pt x="9927872" y="3317665"/>
                  <a:pt x="9947096" y="3329673"/>
                </a:cubicBezTo>
                <a:cubicBezTo>
                  <a:pt x="9910530" y="3330603"/>
                  <a:pt x="9938422" y="3341787"/>
                  <a:pt x="9894468" y="3331125"/>
                </a:cubicBezTo>
                <a:cubicBezTo>
                  <a:pt x="9837697" y="3343266"/>
                  <a:pt x="9748207" y="3338748"/>
                  <a:pt x="9703741" y="3357170"/>
                </a:cubicBezTo>
                <a:cubicBezTo>
                  <a:pt x="9709264" y="3350136"/>
                  <a:pt x="9685337" y="3344679"/>
                  <a:pt x="9668763" y="3348169"/>
                </a:cubicBezTo>
                <a:cubicBezTo>
                  <a:pt x="9688139" y="3320571"/>
                  <a:pt x="9603232" y="3373038"/>
                  <a:pt x="9588644" y="3354205"/>
                </a:cubicBezTo>
                <a:cubicBezTo>
                  <a:pt x="9587925" y="3371689"/>
                  <a:pt x="9513642" y="3401336"/>
                  <a:pt x="9478680" y="3386990"/>
                </a:cubicBezTo>
                <a:cubicBezTo>
                  <a:pt x="9425416" y="3390492"/>
                  <a:pt x="9387699" y="3404944"/>
                  <a:pt x="9331856" y="3399166"/>
                </a:cubicBezTo>
                <a:cubicBezTo>
                  <a:pt x="9330123" y="3401505"/>
                  <a:pt x="9327283" y="3403463"/>
                  <a:pt x="9323679" y="3405145"/>
                </a:cubicBezTo>
                <a:lnTo>
                  <a:pt x="9311620" y="3409223"/>
                </a:lnTo>
                <a:lnTo>
                  <a:pt x="9309289" y="3408926"/>
                </a:lnTo>
                <a:cubicBezTo>
                  <a:pt x="9300131" y="3408873"/>
                  <a:pt x="9295442" y="3409859"/>
                  <a:pt x="9292731" y="3411301"/>
                </a:cubicBezTo>
                <a:lnTo>
                  <a:pt x="9290814" y="3413412"/>
                </a:lnTo>
                <a:lnTo>
                  <a:pt x="9279990" y="3415541"/>
                </a:lnTo>
                <a:lnTo>
                  <a:pt x="9260104" y="3421077"/>
                </a:lnTo>
                <a:lnTo>
                  <a:pt x="9255034" y="3420853"/>
                </a:lnTo>
                <a:lnTo>
                  <a:pt x="9222941" y="3427242"/>
                </a:lnTo>
                <a:lnTo>
                  <a:pt x="9221858" y="3426731"/>
                </a:lnTo>
                <a:cubicBezTo>
                  <a:pt x="9218700" y="3425733"/>
                  <a:pt x="9214983" y="3425271"/>
                  <a:pt x="9210014" y="3425917"/>
                </a:cubicBezTo>
                <a:cubicBezTo>
                  <a:pt x="9208256" y="3416158"/>
                  <a:pt x="9203342" y="3422957"/>
                  <a:pt x="9188839" y="3425728"/>
                </a:cubicBezTo>
                <a:cubicBezTo>
                  <a:pt x="9182870" y="3411188"/>
                  <a:pt x="9147335" y="3424352"/>
                  <a:pt x="9132080" y="3417886"/>
                </a:cubicBezTo>
                <a:cubicBezTo>
                  <a:pt x="9121557" y="3420249"/>
                  <a:pt x="9110321" y="3422482"/>
                  <a:pt x="9098549" y="3424480"/>
                </a:cubicBezTo>
                <a:lnTo>
                  <a:pt x="9003970" y="3425484"/>
                </a:lnTo>
                <a:lnTo>
                  <a:pt x="8904921" y="3413774"/>
                </a:lnTo>
                <a:cubicBezTo>
                  <a:pt x="8868284" y="3413519"/>
                  <a:pt x="8836559" y="3409171"/>
                  <a:pt x="8805551" y="3412237"/>
                </a:cubicBezTo>
                <a:cubicBezTo>
                  <a:pt x="8792955" y="3408854"/>
                  <a:pt x="8781083" y="3407488"/>
                  <a:pt x="8769572" y="3412551"/>
                </a:cubicBezTo>
                <a:cubicBezTo>
                  <a:pt x="8735382" y="3410862"/>
                  <a:pt x="8727105" y="3403632"/>
                  <a:pt x="8705440" y="3409271"/>
                </a:cubicBezTo>
                <a:cubicBezTo>
                  <a:pt x="8686231" y="3397576"/>
                  <a:pt x="8685094" y="3402040"/>
                  <a:pt x="8676067" y="3405389"/>
                </a:cubicBezTo>
                <a:lnTo>
                  <a:pt x="8674779" y="3405628"/>
                </a:lnTo>
                <a:lnTo>
                  <a:pt x="8672154" y="3403956"/>
                </a:lnTo>
                <a:lnTo>
                  <a:pt x="8666720" y="3403182"/>
                </a:lnTo>
                <a:lnTo>
                  <a:pt x="8651886" y="3403680"/>
                </a:lnTo>
                <a:lnTo>
                  <a:pt x="8646307" y="3404298"/>
                </a:lnTo>
                <a:cubicBezTo>
                  <a:pt x="8642465" y="3404565"/>
                  <a:pt x="8639912" y="3404534"/>
                  <a:pt x="8638145" y="3404287"/>
                </a:cubicBezTo>
                <a:lnTo>
                  <a:pt x="8637941" y="3404149"/>
                </a:lnTo>
                <a:lnTo>
                  <a:pt x="8630296" y="3404406"/>
                </a:lnTo>
                <a:cubicBezTo>
                  <a:pt x="8617394" y="3405155"/>
                  <a:pt x="8604838" y="3406180"/>
                  <a:pt x="8592887" y="3407398"/>
                </a:cubicBezTo>
                <a:cubicBezTo>
                  <a:pt x="8582781" y="3399722"/>
                  <a:pt x="8538622" y="3408789"/>
                  <a:pt x="8543455" y="3394319"/>
                </a:cubicBezTo>
                <a:cubicBezTo>
                  <a:pt x="8527334" y="3395534"/>
                  <a:pt x="8517583" y="3401542"/>
                  <a:pt x="8523012" y="3392051"/>
                </a:cubicBezTo>
                <a:cubicBezTo>
                  <a:pt x="8517705" y="3392178"/>
                  <a:pt x="8514435" y="3391372"/>
                  <a:pt x="8512093" y="3390108"/>
                </a:cubicBezTo>
                <a:lnTo>
                  <a:pt x="8511416" y="3389513"/>
                </a:lnTo>
                <a:lnTo>
                  <a:pt x="8475551" y="3392450"/>
                </a:lnTo>
                <a:lnTo>
                  <a:pt x="8470789" y="3391736"/>
                </a:lnTo>
                <a:lnTo>
                  <a:pt x="8447414" y="3395064"/>
                </a:lnTo>
                <a:lnTo>
                  <a:pt x="8435335" y="3396028"/>
                </a:lnTo>
                <a:lnTo>
                  <a:pt x="8431923" y="3397855"/>
                </a:lnTo>
                <a:cubicBezTo>
                  <a:pt x="8428239" y="3398965"/>
                  <a:pt x="8422959" y="3399444"/>
                  <a:pt x="8414099" y="3398491"/>
                </a:cubicBezTo>
                <a:lnTo>
                  <a:pt x="8412049" y="3397978"/>
                </a:lnTo>
                <a:lnTo>
                  <a:pt x="8397349" y="3400683"/>
                </a:lnTo>
                <a:cubicBezTo>
                  <a:pt x="8392615" y="3401933"/>
                  <a:pt x="8388424" y="3403524"/>
                  <a:pt x="8385030" y="3405585"/>
                </a:cubicBezTo>
                <a:cubicBezTo>
                  <a:pt x="8334977" y="3394568"/>
                  <a:pt x="8287750" y="3404648"/>
                  <a:pt x="8233422" y="3402742"/>
                </a:cubicBezTo>
                <a:cubicBezTo>
                  <a:pt x="8209936" y="3385601"/>
                  <a:pt x="8116056" y="3406588"/>
                  <a:pt x="8102569" y="3423208"/>
                </a:cubicBezTo>
                <a:cubicBezTo>
                  <a:pt x="8102264" y="3408645"/>
                  <a:pt x="8034186" y="3428475"/>
                  <a:pt x="8016625" y="3428989"/>
                </a:cubicBezTo>
                <a:cubicBezTo>
                  <a:pt x="8010771" y="3429161"/>
                  <a:pt x="8010530" y="3427186"/>
                  <a:pt x="8020284" y="3421076"/>
                </a:cubicBezTo>
                <a:cubicBezTo>
                  <a:pt x="8001623" y="3422777"/>
                  <a:pt x="7982361" y="3415208"/>
                  <a:pt x="7992871" y="3409037"/>
                </a:cubicBezTo>
                <a:cubicBezTo>
                  <a:pt x="7936181" y="3422244"/>
                  <a:pt x="7852511" y="3409112"/>
                  <a:pt x="7788452" y="3415110"/>
                </a:cubicBezTo>
                <a:cubicBezTo>
                  <a:pt x="7753529" y="3400598"/>
                  <a:pt x="7772461" y="3414025"/>
                  <a:pt x="7736237" y="3411311"/>
                </a:cubicBezTo>
                <a:cubicBezTo>
                  <a:pt x="7746145" y="3424670"/>
                  <a:pt x="7692261" y="3403816"/>
                  <a:pt x="7690279" y="3418893"/>
                </a:cubicBezTo>
                <a:cubicBezTo>
                  <a:pt x="7683750" y="3417921"/>
                  <a:pt x="7677487" y="3416505"/>
                  <a:pt x="7671219" y="3414970"/>
                </a:cubicBezTo>
                <a:lnTo>
                  <a:pt x="7667928" y="3414173"/>
                </a:lnTo>
                <a:lnTo>
                  <a:pt x="7654774" y="3413595"/>
                </a:lnTo>
                <a:lnTo>
                  <a:pt x="7651067" y="3410171"/>
                </a:lnTo>
                <a:lnTo>
                  <a:pt x="7631267" y="3406963"/>
                </a:lnTo>
                <a:cubicBezTo>
                  <a:pt x="7623851" y="3406267"/>
                  <a:pt x="7615871" y="3406106"/>
                  <a:pt x="7607053" y="3406809"/>
                </a:cubicBezTo>
                <a:cubicBezTo>
                  <a:pt x="7585359" y="3412784"/>
                  <a:pt x="7551579" y="3405461"/>
                  <a:pt x="7521027" y="3405904"/>
                </a:cubicBezTo>
                <a:lnTo>
                  <a:pt x="7506997" y="3407754"/>
                </a:lnTo>
                <a:lnTo>
                  <a:pt x="7461204" y="3404669"/>
                </a:lnTo>
                <a:cubicBezTo>
                  <a:pt x="7448169" y="3404071"/>
                  <a:pt x="7434640" y="3403756"/>
                  <a:pt x="7420396" y="3403975"/>
                </a:cubicBezTo>
                <a:lnTo>
                  <a:pt x="7393955" y="3405447"/>
                </a:lnTo>
                <a:lnTo>
                  <a:pt x="7387024" y="3404227"/>
                </a:lnTo>
                <a:cubicBezTo>
                  <a:pt x="7374952" y="3404363"/>
                  <a:pt x="7358975" y="3408656"/>
                  <a:pt x="7360398" y="3403441"/>
                </a:cubicBezTo>
                <a:lnTo>
                  <a:pt x="7346837" y="3405249"/>
                </a:lnTo>
                <a:lnTo>
                  <a:pt x="7333451" y="3401087"/>
                </a:lnTo>
                <a:cubicBezTo>
                  <a:pt x="7331985" y="3400120"/>
                  <a:pt x="7330882" y="3399091"/>
                  <a:pt x="7330179" y="3398037"/>
                </a:cubicBezTo>
                <a:lnTo>
                  <a:pt x="7311232" y="3399406"/>
                </a:lnTo>
                <a:lnTo>
                  <a:pt x="7295699" y="3396426"/>
                </a:lnTo>
                <a:lnTo>
                  <a:pt x="7282158" y="3398374"/>
                </a:lnTo>
                <a:lnTo>
                  <a:pt x="7276538" y="3397935"/>
                </a:lnTo>
                <a:lnTo>
                  <a:pt x="7262569" y="3396460"/>
                </a:lnTo>
                <a:cubicBezTo>
                  <a:pt x="7255407" y="3395426"/>
                  <a:pt x="7247392" y="3394180"/>
                  <a:pt x="7238468" y="3393183"/>
                </a:cubicBezTo>
                <a:lnTo>
                  <a:pt x="7230949" y="3392727"/>
                </a:lnTo>
                <a:lnTo>
                  <a:pt x="7214580" y="3387715"/>
                </a:lnTo>
                <a:cubicBezTo>
                  <a:pt x="7202670" y="3383926"/>
                  <a:pt x="7193296" y="3381373"/>
                  <a:pt x="7182893" y="3383429"/>
                </a:cubicBezTo>
                <a:cubicBezTo>
                  <a:pt x="7165160" y="3378534"/>
                  <a:pt x="7152772" y="3364815"/>
                  <a:pt x="7127104" y="3368475"/>
                </a:cubicBezTo>
                <a:cubicBezTo>
                  <a:pt x="7134894" y="3362260"/>
                  <a:pt x="7098599" y="3367723"/>
                  <a:pt x="7094311" y="3361339"/>
                </a:cubicBezTo>
                <a:cubicBezTo>
                  <a:pt x="7092331" y="3356198"/>
                  <a:pt x="7080860" y="3356657"/>
                  <a:pt x="7072124" y="3354762"/>
                </a:cubicBezTo>
                <a:cubicBezTo>
                  <a:pt x="7065898" y="3349511"/>
                  <a:pt x="7021942" y="3344717"/>
                  <a:pt x="7006638" y="3345473"/>
                </a:cubicBezTo>
                <a:cubicBezTo>
                  <a:pt x="6963504" y="3350697"/>
                  <a:pt x="6928807" y="3329559"/>
                  <a:pt x="6894320" y="3333192"/>
                </a:cubicBezTo>
                <a:cubicBezTo>
                  <a:pt x="6885290" y="3332697"/>
                  <a:pt x="6877803" y="3331507"/>
                  <a:pt x="6871318" y="3329892"/>
                </a:cubicBezTo>
                <a:lnTo>
                  <a:pt x="6855157" y="3324330"/>
                </a:lnTo>
                <a:cubicBezTo>
                  <a:pt x="6854956" y="3323109"/>
                  <a:pt x="6854755" y="3321887"/>
                  <a:pt x="6854555" y="3320665"/>
                </a:cubicBezTo>
                <a:lnTo>
                  <a:pt x="6842483" y="3318413"/>
                </a:lnTo>
                <a:lnTo>
                  <a:pt x="6840027" y="3317245"/>
                </a:lnTo>
                <a:cubicBezTo>
                  <a:pt x="6835354" y="3315001"/>
                  <a:pt x="6830588" y="3312868"/>
                  <a:pt x="6825185" y="3311114"/>
                </a:cubicBezTo>
                <a:cubicBezTo>
                  <a:pt x="6810331" y="3324866"/>
                  <a:pt x="6776772" y="3298463"/>
                  <a:pt x="6774755" y="3312168"/>
                </a:cubicBezTo>
                <a:cubicBezTo>
                  <a:pt x="6742477" y="3304924"/>
                  <a:pt x="6749024" y="3319870"/>
                  <a:pt x="6728129" y="3301832"/>
                </a:cubicBezTo>
                <a:cubicBezTo>
                  <a:pt x="6661764" y="3299056"/>
                  <a:pt x="6593104" y="3275946"/>
                  <a:pt x="6527587" y="3280829"/>
                </a:cubicBezTo>
                <a:cubicBezTo>
                  <a:pt x="6542935" y="3276465"/>
                  <a:pt x="6531033" y="3266920"/>
                  <a:pt x="6511742" y="3266067"/>
                </a:cubicBezTo>
                <a:cubicBezTo>
                  <a:pt x="6570025" y="3248440"/>
                  <a:pt x="6418649" y="3271458"/>
                  <a:pt x="6434953" y="3253360"/>
                </a:cubicBezTo>
                <a:cubicBezTo>
                  <a:pt x="6407781" y="3267048"/>
                  <a:pt x="6300040" y="3274313"/>
                  <a:pt x="6292331" y="3255322"/>
                </a:cubicBezTo>
                <a:cubicBezTo>
                  <a:pt x="6242057" y="3246469"/>
                  <a:pt x="6188266" y="3249680"/>
                  <a:pt x="6149913" y="3232917"/>
                </a:cubicBezTo>
                <a:cubicBezTo>
                  <a:pt x="6144898" y="3234391"/>
                  <a:pt x="6139526" y="3235322"/>
                  <a:pt x="6133930" y="3235867"/>
                </a:cubicBezTo>
                <a:lnTo>
                  <a:pt x="6117554" y="3236464"/>
                </a:lnTo>
                <a:lnTo>
                  <a:pt x="6116039" y="3235720"/>
                </a:lnTo>
                <a:cubicBezTo>
                  <a:pt x="6108393" y="3233681"/>
                  <a:pt x="6102936" y="3233437"/>
                  <a:pt x="6098459" y="3233988"/>
                </a:cubicBezTo>
                <a:lnTo>
                  <a:pt x="6093630" y="3235240"/>
                </a:lnTo>
                <a:lnTo>
                  <a:pt x="6081261" y="3234563"/>
                </a:lnTo>
                <a:lnTo>
                  <a:pt x="6056067" y="3234608"/>
                </a:lnTo>
                <a:lnTo>
                  <a:pt x="6052129" y="3233324"/>
                </a:lnTo>
                <a:lnTo>
                  <a:pt x="6015338" y="3231378"/>
                </a:lnTo>
                <a:cubicBezTo>
                  <a:pt x="6015291" y="3231165"/>
                  <a:pt x="6015245" y="3230951"/>
                  <a:pt x="6015198" y="3230737"/>
                </a:cubicBezTo>
                <a:cubicBezTo>
                  <a:pt x="6014048" y="3229257"/>
                  <a:pt x="6011617" y="3228081"/>
                  <a:pt x="6006436" y="3227508"/>
                </a:cubicBezTo>
                <a:cubicBezTo>
                  <a:pt x="6019781" y="3219395"/>
                  <a:pt x="6005305" y="3223709"/>
                  <a:pt x="5988851" y="3222735"/>
                </a:cubicBezTo>
                <a:cubicBezTo>
                  <a:pt x="6005907" y="3209918"/>
                  <a:pt x="5955918" y="3212588"/>
                  <a:pt x="5952863" y="3204137"/>
                </a:cubicBezTo>
                <a:cubicBezTo>
                  <a:pt x="5940395" y="3203711"/>
                  <a:pt x="5927517" y="3203028"/>
                  <a:pt x="5914548" y="3202041"/>
                </a:cubicBezTo>
                <a:lnTo>
                  <a:pt x="5907020" y="3201283"/>
                </a:lnTo>
                <a:cubicBezTo>
                  <a:pt x="5906995" y="3201231"/>
                  <a:pt x="5906969" y="3201180"/>
                  <a:pt x="5906944" y="3201129"/>
                </a:cubicBezTo>
                <a:cubicBezTo>
                  <a:pt x="5905471" y="3200668"/>
                  <a:pt x="5903056" y="3200308"/>
                  <a:pt x="5899155" y="3200053"/>
                </a:cubicBezTo>
                <a:lnTo>
                  <a:pt x="5893294" y="3199901"/>
                </a:lnTo>
                <a:lnTo>
                  <a:pt x="5878691" y="3198431"/>
                </a:lnTo>
                <a:lnTo>
                  <a:pt x="5874165" y="3197003"/>
                </a:lnTo>
                <a:lnTo>
                  <a:pt x="5873092" y="3195108"/>
                </a:lnTo>
                <a:lnTo>
                  <a:pt x="5871658" y="3195162"/>
                </a:lnTo>
                <a:cubicBezTo>
                  <a:pt x="5860152" y="3197097"/>
                  <a:pt x="5855231" y="3201097"/>
                  <a:pt x="5846928" y="3187725"/>
                </a:cubicBezTo>
                <a:cubicBezTo>
                  <a:pt x="5821379" y="3190142"/>
                  <a:pt x="5819686" y="3182343"/>
                  <a:pt x="5788468" y="3176316"/>
                </a:cubicBezTo>
                <a:cubicBezTo>
                  <a:pt x="5773119" y="3179521"/>
                  <a:pt x="5762947" y="3176704"/>
                  <a:pt x="5753823" y="3171919"/>
                </a:cubicBezTo>
                <a:cubicBezTo>
                  <a:pt x="5721557" y="3170726"/>
                  <a:pt x="5694983" y="3162549"/>
                  <a:pt x="5660194" y="3157536"/>
                </a:cubicBezTo>
                <a:cubicBezTo>
                  <a:pt x="5619608" y="3159495"/>
                  <a:pt x="5604384" y="3146636"/>
                  <a:pt x="5567188" y="3141325"/>
                </a:cubicBezTo>
                <a:cubicBezTo>
                  <a:pt x="5530345" y="3148235"/>
                  <a:pt x="5543868" y="3129416"/>
                  <a:pt x="5526178" y="3123274"/>
                </a:cubicBezTo>
                <a:lnTo>
                  <a:pt x="5520866" y="3122322"/>
                </a:lnTo>
                <a:lnTo>
                  <a:pt x="5506009" y="3122332"/>
                </a:lnTo>
                <a:lnTo>
                  <a:pt x="5500363" y="3122766"/>
                </a:lnTo>
                <a:cubicBezTo>
                  <a:pt x="5496497" y="3122905"/>
                  <a:pt x="5493953" y="3122792"/>
                  <a:pt x="5492228" y="3122486"/>
                </a:cubicBezTo>
                <a:lnTo>
                  <a:pt x="5492044" y="3122342"/>
                </a:lnTo>
                <a:lnTo>
                  <a:pt x="5484386" y="3122347"/>
                </a:lnTo>
                <a:cubicBezTo>
                  <a:pt x="5471420" y="3122670"/>
                  <a:pt x="5458764" y="3123280"/>
                  <a:pt x="5446679" y="3124105"/>
                </a:cubicBezTo>
                <a:cubicBezTo>
                  <a:pt x="5437659" y="3116107"/>
                  <a:pt x="5392392" y="3123709"/>
                  <a:pt x="5399188" y="3109418"/>
                </a:cubicBezTo>
                <a:cubicBezTo>
                  <a:pt x="5382948" y="3110102"/>
                  <a:pt x="5372407" y="3115781"/>
                  <a:pt x="5379117" y="3106482"/>
                </a:cubicBezTo>
                <a:cubicBezTo>
                  <a:pt x="5373809" y="3106435"/>
                  <a:pt x="5370660" y="3105521"/>
                  <a:pt x="5368499" y="3104181"/>
                </a:cubicBezTo>
                <a:lnTo>
                  <a:pt x="5367902" y="3103566"/>
                </a:lnTo>
                <a:lnTo>
                  <a:pt x="5331747" y="3105319"/>
                </a:lnTo>
                <a:lnTo>
                  <a:pt x="5327095" y="3104450"/>
                </a:lnTo>
                <a:lnTo>
                  <a:pt x="5303337" y="3107003"/>
                </a:lnTo>
                <a:lnTo>
                  <a:pt x="5291164" y="3107570"/>
                </a:lnTo>
                <a:lnTo>
                  <a:pt x="5287515" y="3109282"/>
                </a:lnTo>
                <a:cubicBezTo>
                  <a:pt x="5283689" y="3110269"/>
                  <a:pt x="5278356" y="3110573"/>
                  <a:pt x="5269654" y="3109330"/>
                </a:cubicBezTo>
                <a:lnTo>
                  <a:pt x="5267681" y="3108752"/>
                </a:lnTo>
                <a:lnTo>
                  <a:pt x="5252655" y="3110969"/>
                </a:lnTo>
                <a:cubicBezTo>
                  <a:pt x="5247766" y="3112062"/>
                  <a:pt x="5243369" y="3113511"/>
                  <a:pt x="5239703" y="3115460"/>
                </a:cubicBezTo>
                <a:cubicBezTo>
                  <a:pt x="5191311" y="3102811"/>
                  <a:pt x="5142849" y="3111324"/>
                  <a:pt x="5088947" y="3107634"/>
                </a:cubicBezTo>
                <a:cubicBezTo>
                  <a:pt x="5027989" y="3108214"/>
                  <a:pt x="4985627" y="3110432"/>
                  <a:pt x="4945514" y="3110162"/>
                </a:cubicBezTo>
                <a:cubicBezTo>
                  <a:pt x="4926678" y="3111245"/>
                  <a:pt x="4789238" y="3111826"/>
                  <a:pt x="4800559" y="3106010"/>
                </a:cubicBezTo>
                <a:cubicBezTo>
                  <a:pt x="4742239" y="3117333"/>
                  <a:pt x="4708324" y="3101468"/>
                  <a:pt x="4643642" y="3105351"/>
                </a:cubicBezTo>
                <a:cubicBezTo>
                  <a:pt x="4610808" y="3089712"/>
                  <a:pt x="4627845" y="3103743"/>
                  <a:pt x="4592107" y="3099840"/>
                </a:cubicBezTo>
                <a:cubicBezTo>
                  <a:pt x="4600157" y="3113506"/>
                  <a:pt x="4549287" y="3090911"/>
                  <a:pt x="4545249" y="3105899"/>
                </a:cubicBezTo>
                <a:cubicBezTo>
                  <a:pt x="4538872" y="3104716"/>
                  <a:pt x="4532825" y="3103094"/>
                  <a:pt x="4526782" y="3101355"/>
                </a:cubicBezTo>
                <a:lnTo>
                  <a:pt x="4523614" y="3100453"/>
                </a:lnTo>
                <a:lnTo>
                  <a:pt x="4510579" y="3099442"/>
                </a:lnTo>
                <a:lnTo>
                  <a:pt x="4507348" y="3095901"/>
                </a:lnTo>
                <a:lnTo>
                  <a:pt x="4348949" y="3090220"/>
                </a:lnTo>
                <a:cubicBezTo>
                  <a:pt x="4335046" y="3092487"/>
                  <a:pt x="4290056" y="3092155"/>
                  <a:pt x="4280362" y="3087618"/>
                </a:cubicBezTo>
                <a:cubicBezTo>
                  <a:pt x="4270739" y="3086627"/>
                  <a:pt x="4260237" y="3088220"/>
                  <a:pt x="4254634" y="3083366"/>
                </a:cubicBezTo>
                <a:cubicBezTo>
                  <a:pt x="4233731" y="3080512"/>
                  <a:pt x="4185859" y="3073948"/>
                  <a:pt x="4154942" y="3070490"/>
                </a:cubicBezTo>
                <a:cubicBezTo>
                  <a:pt x="4138280" y="3076599"/>
                  <a:pt x="4112117" y="3064194"/>
                  <a:pt x="4069131" y="3062612"/>
                </a:cubicBezTo>
                <a:cubicBezTo>
                  <a:pt x="4050897" y="3069679"/>
                  <a:pt x="4040160" y="3061449"/>
                  <a:pt x="4005249" y="3070810"/>
                </a:cubicBezTo>
                <a:cubicBezTo>
                  <a:pt x="4003818" y="3069842"/>
                  <a:pt x="4002032" y="3068943"/>
                  <a:pt x="3999945" y="3068139"/>
                </a:cubicBezTo>
                <a:cubicBezTo>
                  <a:pt x="3987818" y="3063468"/>
                  <a:pt x="3968381" y="3062958"/>
                  <a:pt x="3956529" y="3067000"/>
                </a:cubicBezTo>
                <a:cubicBezTo>
                  <a:pt x="3900898" y="3079382"/>
                  <a:pt x="3850463" y="3077929"/>
                  <a:pt x="3803031" y="3079823"/>
                </a:cubicBezTo>
                <a:cubicBezTo>
                  <a:pt x="3749421" y="3080464"/>
                  <a:pt x="3785521" y="3065630"/>
                  <a:pt x="3718229" y="3077134"/>
                </a:cubicBezTo>
                <a:cubicBezTo>
                  <a:pt x="3711244" y="3071611"/>
                  <a:pt x="3702770" y="3071184"/>
                  <a:pt x="3688357" y="3073468"/>
                </a:cubicBezTo>
                <a:cubicBezTo>
                  <a:pt x="3662326" y="3073378"/>
                  <a:pt x="3664937" y="3059899"/>
                  <a:pt x="3638298" y="3067494"/>
                </a:cubicBezTo>
                <a:cubicBezTo>
                  <a:pt x="3643333" y="3060328"/>
                  <a:pt x="3589079" y="3063658"/>
                  <a:pt x="3601443" y="3056355"/>
                </a:cubicBezTo>
                <a:cubicBezTo>
                  <a:pt x="3584797" y="3049384"/>
                  <a:pt x="3575923" y="3060108"/>
                  <a:pt x="3559361" y="3054005"/>
                </a:cubicBezTo>
                <a:cubicBezTo>
                  <a:pt x="3540444" y="3052269"/>
                  <a:pt x="3569896" y="3061996"/>
                  <a:pt x="3548859" y="3062094"/>
                </a:cubicBezTo>
                <a:cubicBezTo>
                  <a:pt x="3523419" y="3060901"/>
                  <a:pt x="3522848" y="3074222"/>
                  <a:pt x="3504082" y="3056779"/>
                </a:cubicBezTo>
                <a:lnTo>
                  <a:pt x="3436234" y="3047769"/>
                </a:lnTo>
                <a:cubicBezTo>
                  <a:pt x="3420764" y="3051629"/>
                  <a:pt x="3408644" y="3049227"/>
                  <a:pt x="3396914" y="3044803"/>
                </a:cubicBezTo>
                <a:cubicBezTo>
                  <a:pt x="3361398" y="3044955"/>
                  <a:pt x="3329425" y="3037856"/>
                  <a:pt x="3289720" y="3034278"/>
                </a:cubicBezTo>
                <a:cubicBezTo>
                  <a:pt x="3246348" y="3037943"/>
                  <a:pt x="3224942" y="3025667"/>
                  <a:pt x="3182509" y="3021890"/>
                </a:cubicBezTo>
                <a:cubicBezTo>
                  <a:pt x="3139731" y="3031583"/>
                  <a:pt x="3155749" y="3004773"/>
                  <a:pt x="3119879" y="3004134"/>
                </a:cubicBezTo>
                <a:cubicBezTo>
                  <a:pt x="3060941" y="3012153"/>
                  <a:pt x="3121880" y="2995117"/>
                  <a:pt x="3031656" y="2995077"/>
                </a:cubicBezTo>
                <a:cubicBezTo>
                  <a:pt x="3026453" y="2996603"/>
                  <a:pt x="3015685" y="2994367"/>
                  <a:pt x="3017018" y="2992034"/>
                </a:cubicBezTo>
                <a:cubicBezTo>
                  <a:pt x="2997245" y="2992118"/>
                  <a:pt x="2941342" y="2976346"/>
                  <a:pt x="2913012" y="2978042"/>
                </a:cubicBezTo>
                <a:cubicBezTo>
                  <a:pt x="2858481" y="2969139"/>
                  <a:pt x="2831094" y="2979433"/>
                  <a:pt x="2791382" y="2975899"/>
                </a:cubicBezTo>
                <a:cubicBezTo>
                  <a:pt x="2745836" y="2966063"/>
                  <a:pt x="2719288" y="2957529"/>
                  <a:pt x="2639738" y="2936567"/>
                </a:cubicBezTo>
                <a:lnTo>
                  <a:pt x="2369741" y="2876435"/>
                </a:lnTo>
                <a:cubicBezTo>
                  <a:pt x="2269614" y="2832081"/>
                  <a:pt x="2140023" y="2856176"/>
                  <a:pt x="2078755" y="2852909"/>
                </a:cubicBezTo>
                <a:cubicBezTo>
                  <a:pt x="2053362" y="2866100"/>
                  <a:pt x="2032778" y="2851474"/>
                  <a:pt x="2002128" y="2856835"/>
                </a:cubicBezTo>
                <a:cubicBezTo>
                  <a:pt x="1933939" y="2859736"/>
                  <a:pt x="1866254" y="2874726"/>
                  <a:pt x="1777746" y="2864566"/>
                </a:cubicBezTo>
                <a:cubicBezTo>
                  <a:pt x="1737851" y="2905864"/>
                  <a:pt x="1634115" y="2880970"/>
                  <a:pt x="1549425" y="2904556"/>
                </a:cubicBezTo>
                <a:cubicBezTo>
                  <a:pt x="1500265" y="2909373"/>
                  <a:pt x="1423030" y="2888862"/>
                  <a:pt x="1405992" y="2911144"/>
                </a:cubicBezTo>
                <a:cubicBezTo>
                  <a:pt x="1383494" y="2897507"/>
                  <a:pt x="1362438" y="2919536"/>
                  <a:pt x="1337848" y="2921491"/>
                </a:cubicBezTo>
                <a:cubicBezTo>
                  <a:pt x="1318218" y="2912820"/>
                  <a:pt x="1308478" y="2920319"/>
                  <a:pt x="1290645" y="2921985"/>
                </a:cubicBezTo>
                <a:cubicBezTo>
                  <a:pt x="1282569" y="2916637"/>
                  <a:pt x="1267476" y="2916916"/>
                  <a:pt x="1262341" y="2923190"/>
                </a:cubicBezTo>
                <a:cubicBezTo>
                  <a:pt x="1269627" y="2937654"/>
                  <a:pt x="1217209" y="2930439"/>
                  <a:pt x="1213314" y="2940415"/>
                </a:cubicBezTo>
                <a:cubicBezTo>
                  <a:pt x="1182890" y="2942495"/>
                  <a:pt x="1050782" y="2929830"/>
                  <a:pt x="1028405" y="2945799"/>
                </a:cubicBezTo>
                <a:cubicBezTo>
                  <a:pt x="966896" y="2953381"/>
                  <a:pt x="877997" y="2927977"/>
                  <a:pt x="851857" y="2928423"/>
                </a:cubicBezTo>
                <a:cubicBezTo>
                  <a:pt x="825919" y="2899251"/>
                  <a:pt x="699677" y="2976135"/>
                  <a:pt x="588681" y="2977769"/>
                </a:cubicBezTo>
                <a:cubicBezTo>
                  <a:pt x="573724" y="2974953"/>
                  <a:pt x="565729" y="2974991"/>
                  <a:pt x="561717" y="2981641"/>
                </a:cubicBezTo>
                <a:cubicBezTo>
                  <a:pt x="532860" y="2985482"/>
                  <a:pt x="475932" y="2991762"/>
                  <a:pt x="415541" y="3000819"/>
                </a:cubicBezTo>
                <a:cubicBezTo>
                  <a:pt x="370154" y="3008289"/>
                  <a:pt x="146634" y="3001788"/>
                  <a:pt x="86183" y="3009699"/>
                </a:cubicBezTo>
                <a:lnTo>
                  <a:pt x="0" y="3044978"/>
                </a:lnTo>
                <a:close/>
              </a:path>
            </a:pathLst>
          </a:custGeom>
        </p:spPr>
      </p:pic>
      <p:sp>
        <p:nvSpPr>
          <p:cNvPr id="3" name="Content Placeholder 2">
            <a:extLst>
              <a:ext uri="{FF2B5EF4-FFF2-40B4-BE49-F238E27FC236}">
                <a16:creationId xmlns:a16="http://schemas.microsoft.com/office/drawing/2014/main" id="{BB6564CA-383A-EA7A-2E31-C0277BB4FD2F}"/>
              </a:ext>
            </a:extLst>
          </p:cNvPr>
          <p:cNvSpPr>
            <a:spLocks noGrp="1"/>
          </p:cNvSpPr>
          <p:nvPr>
            <p:ph idx="1"/>
          </p:nvPr>
        </p:nvSpPr>
        <p:spPr>
          <a:xfrm>
            <a:off x="5682343" y="3703975"/>
            <a:ext cx="6172199" cy="2398713"/>
          </a:xfrm>
        </p:spPr>
        <p:txBody>
          <a:bodyPr anchor="ctr">
            <a:normAutofit fontScale="92500"/>
          </a:bodyPr>
          <a:lstStyle/>
          <a:p>
            <a:pPr marL="0" indent="0">
              <a:buNone/>
            </a:pPr>
            <a:r>
              <a:rPr lang="en-US" sz="1800" dirty="0"/>
              <a:t>Summary: Dynamic Labyrinths is more than a game. it is a successful visualization tool that gamifies the differences between heuristic and non-heuristic search methods.</a:t>
            </a:r>
          </a:p>
          <a:p>
            <a:pPr marL="0" indent="0">
              <a:buNone/>
            </a:pPr>
            <a:r>
              <a:rPr lang="en-US" sz="1800" dirty="0"/>
              <a:t>The Core Value: It provides an intuitive understanding of how different algorithms adapt to complex, dynamic environments.</a:t>
            </a:r>
          </a:p>
          <a:p>
            <a:pPr marL="0" indent="0">
              <a:buNone/>
            </a:pPr>
            <a:r>
              <a:rPr lang="en-US" sz="1800" dirty="0"/>
              <a:t>Final Takeaway: By allowing players to directly interact with a constantly changing graph, the project transforms abstract computational concepts into a tangible, memorable experience.</a:t>
            </a:r>
            <a:endParaRPr lang="en-IL" sz="1800" dirty="0"/>
          </a:p>
        </p:txBody>
      </p:sp>
    </p:spTree>
    <p:extLst>
      <p:ext uri="{BB962C8B-B14F-4D97-AF65-F5344CB8AC3E}">
        <p14:creationId xmlns:p14="http://schemas.microsoft.com/office/powerpoint/2010/main" val="35408813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5EBB0FF-D15B-FFC0-A202-1D4B14FA1FDF}"/>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b="1" kern="1200">
                <a:solidFill>
                  <a:schemeClr val="tx1"/>
                </a:solidFill>
                <a:latin typeface="+mj-lt"/>
                <a:ea typeface="+mj-ea"/>
                <a:cs typeface="+mj-cs"/>
              </a:rPr>
              <a:t>Thank You!</a:t>
            </a:r>
            <a:br>
              <a:rPr lang="en-US" sz="7200" b="1" kern="1200">
                <a:solidFill>
                  <a:schemeClr val="tx1"/>
                </a:solidFill>
                <a:latin typeface="+mj-lt"/>
                <a:ea typeface="+mj-ea"/>
                <a:cs typeface="+mj-cs"/>
              </a:rPr>
            </a:br>
            <a:r>
              <a:rPr lang="en-US" sz="7200" b="1" kern="1200">
                <a:solidFill>
                  <a:schemeClr val="tx1"/>
                </a:solidFill>
                <a:latin typeface="+mj-lt"/>
                <a:ea typeface="+mj-ea"/>
                <a:cs typeface="+mj-cs"/>
              </a:rPr>
              <a:t>Questions?</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311191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95</TotalTime>
  <Words>1231</Words>
  <Application>Microsoft Macintosh PowerPoint</Application>
  <PresentationFormat>Widescreen</PresentationFormat>
  <Paragraphs>112</Paragraphs>
  <Slides>17</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Display</vt:lpstr>
      <vt:lpstr>Arial</vt:lpstr>
      <vt:lpstr>Calibri</vt:lpstr>
      <vt:lpstr>Office Theme</vt:lpstr>
      <vt:lpstr>PowerPoint Presentation</vt:lpstr>
      <vt:lpstr>The Challenge: Learning Algorithms Can Be Abstract and Disconnected</vt:lpstr>
      <vt:lpstr>The Evidence: Game-Based Learning Delivers Superior Outcomes</vt:lpstr>
      <vt:lpstr>Our Solution: A Game to Make Algorithms Tangible</vt:lpstr>
      <vt:lpstr>Two Roles, One Dynamic Battlefield</vt:lpstr>
      <vt:lpstr>Outcome: A tense, constantly shifting landscape where strategy and adaptation are key.</vt:lpstr>
      <vt:lpstr>The Educational Engine: A Post-Round Algorithmic Analysis</vt:lpstr>
      <vt:lpstr>The Technology Powering the Experience</vt:lpstr>
      <vt:lpstr>Training an Adaptive Opponent with Reinforcement Learning</vt:lpstr>
      <vt:lpstr>A Modular and Scalable System Architecture</vt:lpstr>
      <vt:lpstr>Defining Success: Core Functional Requirements</vt:lpstr>
      <vt:lpstr>Ensuring a Quality Experience: Non-Functional Goals</vt:lpstr>
      <vt:lpstr>Our Commitment to Quality: Verification and Evaluation</vt:lpstr>
      <vt:lpstr>PowerPoint Presentation</vt:lpstr>
      <vt:lpstr>Navigating Development: Key Challenges and Learnings</vt:lpstr>
      <vt:lpstr>Impact: Where Intuition Meets Algorithmic Insight</vt:lpstr>
      <vt:lpstr>Thank You! 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אליו פיקולי</dc:creator>
  <cp:lastModifiedBy>אליו פיקולי</cp:lastModifiedBy>
  <cp:revision>3</cp:revision>
  <dcterms:created xsi:type="dcterms:W3CDTF">2026-01-08T08:35:08Z</dcterms:created>
  <dcterms:modified xsi:type="dcterms:W3CDTF">2026-01-08T10:10:18Z</dcterms:modified>
</cp:coreProperties>
</file>